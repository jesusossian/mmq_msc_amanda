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8" r:id="rId5"/>
    <p:sldId id="259" r:id="rId6"/>
    <p:sldId id="280" r:id="rId7"/>
    <p:sldId id="281" r:id="rId8"/>
    <p:sldId id="279" r:id="rId9"/>
    <p:sldId id="260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anda dias" initials="ad" lastIdx="1" clrIdx="0">
    <p:extLst>
      <p:ext uri="{19B8F6BF-5375-455C-9EA6-DF929625EA0E}">
        <p15:presenceInfo xmlns:p15="http://schemas.microsoft.com/office/powerpoint/2012/main" userId="ac34249160f58f0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358" autoAdjust="0"/>
  </p:normalViewPr>
  <p:slideViewPr>
    <p:cSldViewPr>
      <p:cViewPr>
        <p:scale>
          <a:sx n="125" d="100"/>
          <a:sy n="125" d="100"/>
        </p:scale>
        <p:origin x="2011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A17700-C61A-4634-9C18-2B4F06AA82FF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676AA8-DF39-4EC5-8391-B79BB8735B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7880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76AA8-DF39-4EC5-8391-B79BB8735BB2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6242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76AA8-DF39-4EC5-8391-B79BB8735BB2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1918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76AA8-DF39-4EC5-8391-B79BB8735BB2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818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76AA8-DF39-4EC5-8391-B79BB8735BB2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63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76AA8-DF39-4EC5-8391-B79BB8735BB2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516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76AA8-DF39-4EC5-8391-B79BB8735BB2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13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76AA8-DF39-4EC5-8391-B79BB8735BB2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7988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065">
              <a:lnSpc>
                <a:spcPct val="100000"/>
              </a:lnSpc>
              <a:spcBef>
                <a:spcPts val="75"/>
              </a:spcBef>
            </a:pPr>
            <a:r>
              <a:t>Arthur</a:t>
            </a:r>
            <a:r>
              <a:rPr spc="-15"/>
              <a:t> </a:t>
            </a:r>
            <a:r>
              <a:t>Alves</a:t>
            </a:r>
            <a:r>
              <a:rPr spc="-15"/>
              <a:t> </a:t>
            </a:r>
            <a:r>
              <a:t>Barbosa</a:t>
            </a:r>
            <a:r>
              <a:rPr spc="-15"/>
              <a:t> </a:t>
            </a:r>
            <a:r>
              <a:t>Eric</a:t>
            </a:r>
            <a:r>
              <a:rPr spc="-10"/>
              <a:t> </a:t>
            </a:r>
            <a:r>
              <a:t>Oliveira</a:t>
            </a:r>
            <a:r>
              <a:rPr spc="-15"/>
              <a:t> </a:t>
            </a:r>
            <a:r>
              <a:t>RochaJosé</a:t>
            </a:r>
            <a:r>
              <a:rPr spc="-15"/>
              <a:t> </a:t>
            </a:r>
            <a:r>
              <a:rPr spc="-10"/>
              <a:t>Vanderl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>
              <a:lnSpc>
                <a:spcPts val="575"/>
              </a:lnSpc>
            </a:pPr>
            <a:r>
              <a:rPr spc="-25"/>
              <a:t>an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  <a:tabLst>
                <a:tab pos="552450" algn="l"/>
              </a:tabLst>
            </a:pPr>
            <a:r>
              <a:t>Julho</a:t>
            </a:r>
            <a:r>
              <a:rPr spc="-15"/>
              <a:t> </a:t>
            </a:r>
            <a:r>
              <a:t>de</a:t>
            </a:r>
            <a:r>
              <a:rPr spc="-10"/>
              <a:t> </a:t>
            </a:r>
            <a:r>
              <a:rPr spc="-20"/>
              <a:t>2021</a:t>
            </a:r>
            <a:r>
              <a:t>	</a:t>
            </a:r>
            <a:fld id="{81D60167-4931-47E6-BA6A-407CBD079E47}" type="slidenum">
              <a:rPr/>
              <a:t>‹nº›</a:t>
            </a:fld>
            <a:r>
              <a:rPr spc="-5"/>
              <a:t> </a:t>
            </a:r>
            <a:r>
              <a:t>/</a:t>
            </a:r>
            <a:r>
              <a:rPr spc="-5"/>
              <a:t> </a:t>
            </a:r>
            <a:r>
              <a:rPr spc="-25"/>
              <a:t>22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065">
              <a:lnSpc>
                <a:spcPct val="100000"/>
              </a:lnSpc>
              <a:spcBef>
                <a:spcPts val="75"/>
              </a:spcBef>
            </a:pPr>
            <a:r>
              <a:t>Arthur</a:t>
            </a:r>
            <a:r>
              <a:rPr spc="-15"/>
              <a:t> </a:t>
            </a:r>
            <a:r>
              <a:t>Alves</a:t>
            </a:r>
            <a:r>
              <a:rPr spc="-15"/>
              <a:t> </a:t>
            </a:r>
            <a:r>
              <a:t>Barbosa</a:t>
            </a:r>
            <a:r>
              <a:rPr spc="-15"/>
              <a:t> </a:t>
            </a:r>
            <a:r>
              <a:t>Eric</a:t>
            </a:r>
            <a:r>
              <a:rPr spc="-10"/>
              <a:t> </a:t>
            </a:r>
            <a:r>
              <a:t>Oliveira</a:t>
            </a:r>
            <a:r>
              <a:rPr spc="-15"/>
              <a:t> </a:t>
            </a:r>
            <a:r>
              <a:t>RochaJosé</a:t>
            </a:r>
            <a:r>
              <a:rPr spc="-15"/>
              <a:t> </a:t>
            </a:r>
            <a:r>
              <a:rPr spc="-10"/>
              <a:t>Vanderl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>
              <a:lnSpc>
                <a:spcPts val="575"/>
              </a:lnSpc>
            </a:pPr>
            <a:r>
              <a:rPr spc="-25"/>
              <a:t>an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  <a:tabLst>
                <a:tab pos="552450" algn="l"/>
              </a:tabLst>
            </a:pPr>
            <a:r>
              <a:t>Julho</a:t>
            </a:r>
            <a:r>
              <a:rPr spc="-15"/>
              <a:t> </a:t>
            </a:r>
            <a:r>
              <a:t>de</a:t>
            </a:r>
            <a:r>
              <a:rPr spc="-10"/>
              <a:t> </a:t>
            </a:r>
            <a:r>
              <a:rPr spc="-20"/>
              <a:t>2021</a:t>
            </a:r>
            <a:r>
              <a:t>	</a:t>
            </a:r>
            <a:fld id="{81D60167-4931-47E6-BA6A-407CBD079E47}" type="slidenum">
              <a:rPr/>
              <a:t>‹nº›</a:t>
            </a:fld>
            <a:r>
              <a:rPr spc="-5"/>
              <a:t> </a:t>
            </a:r>
            <a:r>
              <a:t>/</a:t>
            </a:r>
            <a:r>
              <a:rPr spc="-5"/>
              <a:t> </a:t>
            </a:r>
            <a:r>
              <a:rPr spc="-25"/>
              <a:t>22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065">
              <a:lnSpc>
                <a:spcPct val="100000"/>
              </a:lnSpc>
              <a:spcBef>
                <a:spcPts val="75"/>
              </a:spcBef>
            </a:pPr>
            <a:r>
              <a:t>Arthur</a:t>
            </a:r>
            <a:r>
              <a:rPr spc="-15"/>
              <a:t> </a:t>
            </a:r>
            <a:r>
              <a:t>Alves</a:t>
            </a:r>
            <a:r>
              <a:rPr spc="-15"/>
              <a:t> </a:t>
            </a:r>
            <a:r>
              <a:t>Barbosa</a:t>
            </a:r>
            <a:r>
              <a:rPr spc="-15"/>
              <a:t> </a:t>
            </a:r>
            <a:r>
              <a:t>Eric</a:t>
            </a:r>
            <a:r>
              <a:rPr spc="-10"/>
              <a:t> </a:t>
            </a:r>
            <a:r>
              <a:t>Oliveira</a:t>
            </a:r>
            <a:r>
              <a:rPr spc="-15"/>
              <a:t> </a:t>
            </a:r>
            <a:r>
              <a:t>RochaJosé</a:t>
            </a:r>
            <a:r>
              <a:rPr spc="-15"/>
              <a:t> </a:t>
            </a:r>
            <a:r>
              <a:rPr spc="-10"/>
              <a:t>Vanderl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>
              <a:lnSpc>
                <a:spcPts val="575"/>
              </a:lnSpc>
            </a:pPr>
            <a:r>
              <a:rPr spc="-25"/>
              <a:t>an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  <a:tabLst>
                <a:tab pos="552450" algn="l"/>
              </a:tabLst>
            </a:pPr>
            <a:r>
              <a:t>Julho</a:t>
            </a:r>
            <a:r>
              <a:rPr spc="-15"/>
              <a:t> </a:t>
            </a:r>
            <a:r>
              <a:t>de</a:t>
            </a:r>
            <a:r>
              <a:rPr spc="-10"/>
              <a:t> </a:t>
            </a:r>
            <a:r>
              <a:rPr spc="-20"/>
              <a:t>2021</a:t>
            </a:r>
            <a:r>
              <a:t>	</a:t>
            </a:r>
            <a:fld id="{81D60167-4931-47E6-BA6A-407CBD079E47}" type="slidenum">
              <a:rPr/>
              <a:t>‹nº›</a:t>
            </a:fld>
            <a:r>
              <a:rPr spc="-5"/>
              <a:t> </a:t>
            </a:r>
            <a:r>
              <a:t>/</a:t>
            </a:r>
            <a:r>
              <a:rPr spc="-5"/>
              <a:t> </a:t>
            </a:r>
            <a:r>
              <a:rPr spc="-25"/>
              <a:t>22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065">
              <a:lnSpc>
                <a:spcPct val="100000"/>
              </a:lnSpc>
              <a:spcBef>
                <a:spcPts val="75"/>
              </a:spcBef>
            </a:pPr>
            <a:r>
              <a:t>Arthur</a:t>
            </a:r>
            <a:r>
              <a:rPr spc="-15"/>
              <a:t> </a:t>
            </a:r>
            <a:r>
              <a:t>Alves</a:t>
            </a:r>
            <a:r>
              <a:rPr spc="-15"/>
              <a:t> </a:t>
            </a:r>
            <a:r>
              <a:t>Barbosa</a:t>
            </a:r>
            <a:r>
              <a:rPr spc="-15"/>
              <a:t> </a:t>
            </a:r>
            <a:r>
              <a:t>Eric</a:t>
            </a:r>
            <a:r>
              <a:rPr spc="-10"/>
              <a:t> </a:t>
            </a:r>
            <a:r>
              <a:t>Oliveira</a:t>
            </a:r>
            <a:r>
              <a:rPr spc="-15"/>
              <a:t> </a:t>
            </a:r>
            <a:r>
              <a:t>RochaJosé</a:t>
            </a:r>
            <a:r>
              <a:rPr spc="-15"/>
              <a:t> </a:t>
            </a:r>
            <a:r>
              <a:rPr spc="-10"/>
              <a:t>Vanderl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>
              <a:lnSpc>
                <a:spcPts val="575"/>
              </a:lnSpc>
            </a:pPr>
            <a:r>
              <a:rPr spc="-25"/>
              <a:t>an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  <a:tabLst>
                <a:tab pos="552450" algn="l"/>
              </a:tabLst>
            </a:pPr>
            <a:r>
              <a:t>Julho</a:t>
            </a:r>
            <a:r>
              <a:rPr spc="-15"/>
              <a:t> </a:t>
            </a:r>
            <a:r>
              <a:t>de</a:t>
            </a:r>
            <a:r>
              <a:rPr spc="-10"/>
              <a:t> </a:t>
            </a:r>
            <a:r>
              <a:rPr spc="-20"/>
              <a:t>2021</a:t>
            </a:r>
            <a:r>
              <a:t>	</a:t>
            </a:r>
            <a:fld id="{81D60167-4931-47E6-BA6A-407CBD079E47}" type="slidenum">
              <a:rPr/>
              <a:t>‹nº›</a:t>
            </a:fld>
            <a:r>
              <a:rPr spc="-5"/>
              <a:t> </a:t>
            </a:r>
            <a:r>
              <a:t>/</a:t>
            </a:r>
            <a:r>
              <a:rPr spc="-5"/>
              <a:t> </a:t>
            </a:r>
            <a:r>
              <a:rPr spc="-25"/>
              <a:t>22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065">
              <a:lnSpc>
                <a:spcPct val="100000"/>
              </a:lnSpc>
              <a:spcBef>
                <a:spcPts val="75"/>
              </a:spcBef>
            </a:pPr>
            <a:r>
              <a:t>Arthur</a:t>
            </a:r>
            <a:r>
              <a:rPr spc="-15"/>
              <a:t> </a:t>
            </a:r>
            <a:r>
              <a:t>Alves</a:t>
            </a:r>
            <a:r>
              <a:rPr spc="-15"/>
              <a:t> </a:t>
            </a:r>
            <a:r>
              <a:t>Barbosa</a:t>
            </a:r>
            <a:r>
              <a:rPr spc="-15"/>
              <a:t> </a:t>
            </a:r>
            <a:r>
              <a:t>Eric</a:t>
            </a:r>
            <a:r>
              <a:rPr spc="-10"/>
              <a:t> </a:t>
            </a:r>
            <a:r>
              <a:t>Oliveira</a:t>
            </a:r>
            <a:r>
              <a:rPr spc="-15"/>
              <a:t> </a:t>
            </a:r>
            <a:r>
              <a:t>RochaJosé</a:t>
            </a:r>
            <a:r>
              <a:rPr spc="-15"/>
              <a:t> </a:t>
            </a:r>
            <a:r>
              <a:rPr spc="-10"/>
              <a:t>Vanderl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>
              <a:lnSpc>
                <a:spcPts val="575"/>
              </a:lnSpc>
            </a:pPr>
            <a:r>
              <a:rPr spc="-25"/>
              <a:t>an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  <a:tabLst>
                <a:tab pos="552450" algn="l"/>
              </a:tabLst>
            </a:pPr>
            <a:r>
              <a:t>Julho</a:t>
            </a:r>
            <a:r>
              <a:rPr spc="-15"/>
              <a:t> </a:t>
            </a:r>
            <a:r>
              <a:t>de</a:t>
            </a:r>
            <a:r>
              <a:rPr spc="-10"/>
              <a:t> </a:t>
            </a:r>
            <a:r>
              <a:rPr spc="-20"/>
              <a:t>2021</a:t>
            </a:r>
            <a:r>
              <a:t>	</a:t>
            </a:r>
            <a:fld id="{81D60167-4931-47E6-BA6A-407CBD079E47}" type="slidenum">
              <a:rPr/>
              <a:t>‹nº›</a:t>
            </a:fld>
            <a:r>
              <a:rPr spc="-5"/>
              <a:t> </a:t>
            </a:r>
            <a:r>
              <a:t>/</a:t>
            </a:r>
            <a:r>
              <a:rPr spc="-5"/>
              <a:t> </a:t>
            </a:r>
            <a:r>
              <a:rPr spc="-25"/>
              <a:t>22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4608004" cy="3456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653" y="3023624"/>
            <a:ext cx="1011625" cy="26162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173" y="3096621"/>
            <a:ext cx="196733" cy="13225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5905" y="3108305"/>
            <a:ext cx="171269" cy="151981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0"/>
            <a:ext cx="4608195" cy="205740"/>
          </a:xfrm>
          <a:custGeom>
            <a:avLst/>
            <a:gdLst/>
            <a:ahLst/>
            <a:cxnLst/>
            <a:rect l="l" t="t" r="r" b="b"/>
            <a:pathLst>
              <a:path w="4608195" h="205740">
                <a:moveTo>
                  <a:pt x="4608004" y="0"/>
                </a:moveTo>
                <a:lnTo>
                  <a:pt x="0" y="0"/>
                </a:lnTo>
                <a:lnTo>
                  <a:pt x="0" y="205727"/>
                </a:lnTo>
                <a:lnTo>
                  <a:pt x="4608004" y="205727"/>
                </a:lnTo>
                <a:lnTo>
                  <a:pt x="4608004" y="0"/>
                </a:lnTo>
                <a:close/>
              </a:path>
            </a:pathLst>
          </a:custGeom>
          <a:solidFill>
            <a:srgbClr val="0052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20650" y="14441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4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7FA9C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71056" y="144414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36002" y="18001"/>
                </a:moveTo>
                <a:lnTo>
                  <a:pt x="34587" y="10994"/>
                </a:lnTo>
                <a:lnTo>
                  <a:pt x="30729" y="5272"/>
                </a:lnTo>
                <a:lnTo>
                  <a:pt x="25007" y="1414"/>
                </a:lnTo>
                <a:lnTo>
                  <a:pt x="18000" y="0"/>
                </a:lnTo>
                <a:lnTo>
                  <a:pt x="10994" y="1414"/>
                </a:lnTo>
                <a:lnTo>
                  <a:pt x="5272" y="5272"/>
                </a:lnTo>
                <a:lnTo>
                  <a:pt x="1414" y="10994"/>
                </a:lnTo>
                <a:lnTo>
                  <a:pt x="0" y="18001"/>
                </a:lnTo>
                <a:lnTo>
                  <a:pt x="1414" y="25008"/>
                </a:lnTo>
                <a:lnTo>
                  <a:pt x="5272" y="30729"/>
                </a:lnTo>
                <a:lnTo>
                  <a:pt x="10994" y="34587"/>
                </a:lnTo>
                <a:lnTo>
                  <a:pt x="18000" y="36002"/>
                </a:lnTo>
                <a:lnTo>
                  <a:pt x="25007" y="34587"/>
                </a:lnTo>
                <a:lnTo>
                  <a:pt x="30729" y="30729"/>
                </a:lnTo>
                <a:lnTo>
                  <a:pt x="34587" y="25008"/>
                </a:lnTo>
                <a:lnTo>
                  <a:pt x="36002" y="18001"/>
                </a:lnTo>
                <a:close/>
              </a:path>
            </a:pathLst>
          </a:custGeom>
          <a:ln w="5060">
            <a:solidFill>
              <a:srgbClr val="7FA9C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0505" y="138430"/>
            <a:ext cx="4149090" cy="553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-14782" y="3349927"/>
            <a:ext cx="1547495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065">
              <a:lnSpc>
                <a:spcPct val="100000"/>
              </a:lnSpc>
              <a:spcBef>
                <a:spcPts val="75"/>
              </a:spcBef>
            </a:pPr>
            <a:r>
              <a:t>Arthur</a:t>
            </a:r>
            <a:r>
              <a:rPr spc="-15"/>
              <a:t> </a:t>
            </a:r>
            <a:r>
              <a:t>Alves</a:t>
            </a:r>
            <a:r>
              <a:rPr spc="-15"/>
              <a:t> </a:t>
            </a:r>
            <a:r>
              <a:t>Barbosa</a:t>
            </a:r>
            <a:r>
              <a:rPr spc="-15"/>
              <a:t> </a:t>
            </a:r>
            <a:r>
              <a:t>Eric</a:t>
            </a:r>
            <a:r>
              <a:rPr spc="-10"/>
              <a:t> </a:t>
            </a:r>
            <a:r>
              <a:t>Oliveira</a:t>
            </a:r>
            <a:r>
              <a:rPr spc="-15"/>
              <a:t> </a:t>
            </a:r>
            <a:r>
              <a:t>RochaJosé</a:t>
            </a:r>
            <a:r>
              <a:rPr spc="-15"/>
              <a:t> </a:t>
            </a:r>
            <a:r>
              <a:rPr spc="-10"/>
              <a:t>Vanderl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519949" y="3362627"/>
            <a:ext cx="70484" cy="787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>
              <a:lnSpc>
                <a:spcPts val="575"/>
              </a:lnSpc>
            </a:pPr>
            <a:r>
              <a:rPr spc="-25"/>
              <a:t>an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95344" y="3349927"/>
            <a:ext cx="759460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  <a:tabLst>
                <a:tab pos="552450" algn="l"/>
              </a:tabLst>
            </a:pPr>
            <a:r>
              <a:t>Julho</a:t>
            </a:r>
            <a:r>
              <a:rPr spc="-15"/>
              <a:t> </a:t>
            </a:r>
            <a:r>
              <a:t>de</a:t>
            </a:r>
            <a:r>
              <a:rPr spc="-10"/>
              <a:t> </a:t>
            </a:r>
            <a:r>
              <a:rPr spc="-20"/>
              <a:t>2021</a:t>
            </a:r>
            <a:r>
              <a:t>	</a:t>
            </a:r>
            <a:fld id="{81D60167-4931-47E6-BA6A-407CBD079E47}" type="slidenum">
              <a:rPr/>
              <a:t>‹nº›</a:t>
            </a:fld>
            <a:r>
              <a:rPr spc="-5"/>
              <a:t> </a:t>
            </a:r>
            <a:r>
              <a:t>/</a:t>
            </a:r>
            <a:r>
              <a:rPr spc="-5"/>
              <a:t> </a:t>
            </a:r>
            <a:r>
              <a:rPr spc="-25"/>
              <a:t>22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8"/>
          <p:cNvSpPr txBox="1"/>
          <p:nvPr/>
        </p:nvSpPr>
        <p:spPr>
          <a:xfrm>
            <a:off x="-14782" y="439172"/>
            <a:ext cx="4622799" cy="663067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ctr">
              <a:lnSpc>
                <a:spcPct val="101200"/>
              </a:lnSpc>
              <a:spcBef>
                <a:spcPts val="85"/>
              </a:spcBef>
            </a:pPr>
            <a:r>
              <a:rPr lang="pt-BR" sz="1400" b="1" dirty="0">
                <a:solidFill>
                  <a:srgbClr val="005286"/>
                </a:solidFill>
                <a:latin typeface="Arial"/>
                <a:cs typeface="Arial"/>
              </a:rPr>
              <a:t>ROTEAMENTO DE ÔNIBUS PARA DESLOCAMENTO DE FUNCIONÁRIOS COM</a:t>
            </a:r>
          </a:p>
          <a:p>
            <a:pPr marL="12700" marR="5080" algn="ctr">
              <a:lnSpc>
                <a:spcPct val="101200"/>
              </a:lnSpc>
              <a:spcBef>
                <a:spcPts val="85"/>
              </a:spcBef>
            </a:pPr>
            <a:r>
              <a:rPr lang="pt-BR" sz="1400" b="1" dirty="0">
                <a:solidFill>
                  <a:srgbClr val="005286"/>
                </a:solidFill>
                <a:latin typeface="Arial"/>
                <a:cs typeface="Arial"/>
              </a:rPr>
              <a:t>JANELA DE TEMPO</a:t>
            </a:r>
            <a:endParaRPr sz="205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5533" y="1282975"/>
            <a:ext cx="3536950" cy="18460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lang="pt-BR" sz="1000" dirty="0"/>
              <a:t>AMANDA RESENHE DIAS SIQUEIRA</a:t>
            </a: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lang="pt-BR" sz="1000" dirty="0">
                <a:latin typeface="Arial MT"/>
                <a:cs typeface="Arial MT"/>
              </a:rPr>
              <a:t>Orientador: </a:t>
            </a:r>
            <a:r>
              <a:rPr lang="pt-BR" sz="1000" dirty="0"/>
              <a:t>Jesus Ossian da Cunha Silva</a:t>
            </a:r>
            <a:br>
              <a:rPr lang="pt-BR" sz="1000" dirty="0">
                <a:latin typeface="Arial MT"/>
                <a:cs typeface="Arial MT"/>
              </a:rPr>
            </a:br>
            <a:r>
              <a:rPr lang="pt-BR" sz="1000" dirty="0">
                <a:latin typeface="Arial MT"/>
                <a:cs typeface="Arial MT"/>
              </a:rPr>
              <a:t>Coorientador: </a:t>
            </a:r>
            <a:r>
              <a:rPr lang="pt-BR" sz="1000" dirty="0"/>
              <a:t>Caio Augusto Nunes</a:t>
            </a:r>
            <a:endParaRPr lang="pt-BR" sz="10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endParaRPr sz="1000" dirty="0">
              <a:latin typeface="Arial MT"/>
              <a:cs typeface="Arial MT"/>
            </a:endParaRPr>
          </a:p>
          <a:p>
            <a:pPr marL="12700" marR="5080" algn="ctr">
              <a:lnSpc>
                <a:spcPct val="100000"/>
              </a:lnSpc>
              <a:spcBef>
                <a:spcPts val="5"/>
              </a:spcBef>
            </a:pPr>
            <a:r>
              <a:rPr sz="1000" b="1" dirty="0" err="1">
                <a:latin typeface="Arial"/>
                <a:cs typeface="Arial"/>
              </a:rPr>
              <a:t>Departamento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de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dirty="0" err="1">
                <a:latin typeface="Arial"/>
                <a:cs typeface="Arial"/>
              </a:rPr>
              <a:t>Estatística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e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 err="1">
                <a:latin typeface="Arial"/>
                <a:cs typeface="Arial"/>
              </a:rPr>
              <a:t>Matemática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spc="-10" dirty="0" err="1">
                <a:latin typeface="Arial"/>
                <a:cs typeface="Arial"/>
              </a:rPr>
              <a:t>Aplicada</a:t>
            </a:r>
            <a:r>
              <a:rPr sz="1000" b="1" spc="-10" dirty="0">
                <a:latin typeface="Arial"/>
                <a:cs typeface="Arial"/>
              </a:rPr>
              <a:t>-</a:t>
            </a:r>
            <a:r>
              <a:rPr sz="1000" b="1" spc="-20" dirty="0">
                <a:latin typeface="Arial"/>
                <a:cs typeface="Arial"/>
              </a:rPr>
              <a:t>DEMA </a:t>
            </a:r>
            <a:r>
              <a:rPr sz="1000" b="1" dirty="0" err="1">
                <a:latin typeface="Arial"/>
                <a:cs typeface="Arial"/>
              </a:rPr>
              <a:t>Universidade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Federal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do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Ceará</a:t>
            </a:r>
            <a:endParaRPr lang="pt-BR" sz="1000" b="1" spc="-10" dirty="0">
              <a:latin typeface="Arial"/>
              <a:cs typeface="Arial"/>
            </a:endParaRPr>
          </a:p>
          <a:p>
            <a:pPr marL="12700" marR="5080" algn="ctr">
              <a:lnSpc>
                <a:spcPct val="100000"/>
              </a:lnSpc>
              <a:spcBef>
                <a:spcPts val="5"/>
              </a:spcBef>
            </a:pPr>
            <a:r>
              <a:rPr lang="pt-BR" sz="1000" b="1" dirty="0">
                <a:latin typeface="Arial"/>
                <a:cs typeface="Arial"/>
              </a:rPr>
              <a:t>Programa De Pós-graduação Em Modelagem E Métodos</a:t>
            </a:r>
          </a:p>
          <a:p>
            <a:pPr marL="12700" marR="5080" algn="ctr">
              <a:lnSpc>
                <a:spcPct val="100000"/>
              </a:lnSpc>
              <a:spcBef>
                <a:spcPts val="5"/>
              </a:spcBef>
            </a:pPr>
            <a:r>
              <a:rPr lang="pt-BR" sz="1000" b="1" dirty="0">
                <a:latin typeface="Arial"/>
                <a:cs typeface="Arial"/>
              </a:rPr>
              <a:t>Quantitativos</a:t>
            </a: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000" dirty="0">
                <a:latin typeface="Arial MT"/>
                <a:cs typeface="Arial MT"/>
              </a:rPr>
              <a:t>Setembro de 2026</a:t>
            </a:r>
            <a:endParaRPr sz="1000" dirty="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31" name="object 31"/>
            <p:cNvSpPr/>
            <p:nvPr/>
          </p:nvSpPr>
          <p:spPr>
            <a:xfrm>
              <a:off x="0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5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535976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EB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71952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5">
            <a:extLst>
              <a:ext uri="{FF2B5EF4-FFF2-40B4-BE49-F238E27FC236}">
                <a16:creationId xmlns:a16="http://schemas.microsoft.com/office/drawing/2014/main" id="{56862986-7CE8-4610-9CC7-8D3D32A96B1E}"/>
              </a:ext>
            </a:extLst>
          </p:cNvPr>
          <p:cNvSpPr txBox="1"/>
          <p:nvPr/>
        </p:nvSpPr>
        <p:spPr>
          <a:xfrm>
            <a:off x="1563583" y="3294722"/>
            <a:ext cx="1524261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dirty="0" err="1">
                <a:latin typeface="Arial MT"/>
              </a:rPr>
              <a:t>Exame</a:t>
            </a:r>
            <a:r>
              <a:rPr sz="800" dirty="0">
                <a:latin typeface="Arial MT"/>
              </a:rPr>
              <a:t> de </a:t>
            </a:r>
            <a:r>
              <a:rPr sz="800" dirty="0" err="1">
                <a:latin typeface="Arial MT"/>
              </a:rPr>
              <a:t>Qualificação</a:t>
            </a:r>
            <a:endParaRPr sz="800" dirty="0">
              <a:latin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398" y="4365"/>
            <a:ext cx="4675006" cy="3473192"/>
            <a:chOff x="-66810" y="-15604"/>
            <a:chExt cx="4675006" cy="347319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" y="1588"/>
              <a:ext cx="4608004" cy="3456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653" y="3023624"/>
              <a:ext cx="1011625" cy="2616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173" y="3096621"/>
              <a:ext cx="196733" cy="1322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905" y="3108305"/>
              <a:ext cx="171269" cy="15198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-66810" y="-15604"/>
              <a:ext cx="4616518" cy="205740"/>
            </a:xfrm>
            <a:custGeom>
              <a:avLst/>
              <a:gdLst/>
              <a:ahLst/>
              <a:cxnLst/>
              <a:rect l="l" t="t" r="r" b="b"/>
              <a:pathLst>
                <a:path w="4608195" h="205740">
                  <a:moveTo>
                    <a:pt x="4608004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4608004" y="205727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5300" y="265541"/>
            <a:ext cx="8864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005286"/>
                </a:solidFill>
                <a:latin typeface="Arial MT"/>
                <a:cs typeface="Arial MT"/>
              </a:rPr>
              <a:t>Introdução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0653" y="542572"/>
            <a:ext cx="4419550" cy="1368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 marR="5080" indent="-4445" algn="just">
              <a:lnSpc>
                <a:spcPct val="150000"/>
              </a:lnSpc>
              <a:spcBef>
                <a:spcPts val="95"/>
              </a:spcBef>
            </a:pPr>
            <a:r>
              <a:rPr lang="pt-BR" sz="1000" dirty="0">
                <a:latin typeface="Arial MT"/>
                <a:cs typeface="Arial MT"/>
              </a:rPr>
              <a:t> O Problema de Roteamento de Veículos (PRV), ressalta a proposição de um conjunto de rotas, levando em consideração as variações de restrições que podem vir a existir. Dentro dessas restrições, podem-se considerar aspectos como a capacidade dos veículos, frotas heterogêneas ou homogêneas, o tempo em que as rotas necessitam ser realizadas dentro de um determinado período, os custos, entre outros pontos.</a:t>
            </a:r>
            <a:endParaRPr sz="1000" dirty="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-10398" y="3357923"/>
            <a:ext cx="4626916" cy="119634"/>
            <a:chOff x="0" y="3348469"/>
            <a:chExt cx="4608195" cy="107950"/>
          </a:xfrm>
        </p:grpSpPr>
        <p:sp>
          <p:nvSpPr>
            <p:cNvPr id="41" name="object 41"/>
            <p:cNvSpPr/>
            <p:nvPr/>
          </p:nvSpPr>
          <p:spPr>
            <a:xfrm>
              <a:off x="0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5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535976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EB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71952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BECC5CD8-4675-419B-8C0E-818B3B5DB891}"/>
              </a:ext>
            </a:extLst>
          </p:cNvPr>
          <p:cNvSpPr/>
          <p:nvPr/>
        </p:nvSpPr>
        <p:spPr>
          <a:xfrm>
            <a:off x="117722" y="2032196"/>
            <a:ext cx="1349178" cy="943819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spc="-10" dirty="0">
                <a:solidFill>
                  <a:srgbClr val="005286"/>
                </a:solidFill>
                <a:latin typeface="Arial MT"/>
              </a:rPr>
              <a:t>Rotas</a:t>
            </a:r>
          </a:p>
          <a:p>
            <a:pPr algn="ctr"/>
            <a:endParaRPr lang="pt-BR" sz="900" dirty="0">
              <a:latin typeface="Arial MT"/>
            </a:endParaRPr>
          </a:p>
          <a:p>
            <a:pPr algn="ctr"/>
            <a:r>
              <a:rPr lang="pt-BR" sz="900" dirty="0">
                <a:latin typeface="Arial MT"/>
              </a:rPr>
              <a:t>Definição de pontos, entre partida inicial e final.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7698D4FF-8A37-4981-AC20-83539C7AF63B}"/>
              </a:ext>
            </a:extLst>
          </p:cNvPr>
          <p:cNvSpPr/>
          <p:nvPr/>
        </p:nvSpPr>
        <p:spPr>
          <a:xfrm>
            <a:off x="1617170" y="2020803"/>
            <a:ext cx="1371600" cy="943819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spc="-10" dirty="0">
                <a:solidFill>
                  <a:srgbClr val="005286"/>
                </a:solidFill>
                <a:latin typeface="Arial MT"/>
              </a:rPr>
              <a:t>Função Objetivo</a:t>
            </a:r>
          </a:p>
          <a:p>
            <a:pPr algn="ctr"/>
            <a:endParaRPr lang="pt-BR" sz="900" dirty="0">
              <a:latin typeface="Arial MT"/>
            </a:endParaRPr>
          </a:p>
          <a:p>
            <a:pPr algn="ctr"/>
            <a:r>
              <a:rPr lang="pt-BR" sz="900" dirty="0">
                <a:latin typeface="Arial MT"/>
              </a:rPr>
              <a:t>Objetivo de reduzir custos, distancia e tempo.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35E8F9A-E802-4BA8-95CA-674D72100704}"/>
              </a:ext>
            </a:extLst>
          </p:cNvPr>
          <p:cNvSpPr/>
          <p:nvPr/>
        </p:nvSpPr>
        <p:spPr>
          <a:xfrm>
            <a:off x="3139040" y="2027784"/>
            <a:ext cx="1406765" cy="943819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spc="-10" dirty="0">
                <a:solidFill>
                  <a:srgbClr val="005286"/>
                </a:solidFill>
                <a:latin typeface="Arial MT"/>
              </a:rPr>
              <a:t>Restrições</a:t>
            </a:r>
          </a:p>
          <a:p>
            <a:pPr algn="ctr"/>
            <a:r>
              <a:rPr lang="pt-BR" sz="900" dirty="0">
                <a:latin typeface="Arial MT"/>
              </a:rPr>
              <a:t> </a:t>
            </a:r>
          </a:p>
          <a:p>
            <a:pPr algn="ctr"/>
            <a:r>
              <a:rPr lang="pt-BR" sz="900" dirty="0">
                <a:latin typeface="Arial MT"/>
              </a:rPr>
              <a:t>Limites entre capacidade de veículos e tempo.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78" y="4750"/>
            <a:ext cx="4608195" cy="3456000"/>
            <a:chOff x="0" y="0"/>
            <a:chExt cx="4608195" cy="3456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608004" cy="3456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653" y="3023624"/>
              <a:ext cx="1011625" cy="2616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173" y="3096621"/>
              <a:ext cx="196733" cy="1322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905" y="3108305"/>
              <a:ext cx="171269" cy="15198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4608195" cy="205740"/>
            </a:xfrm>
            <a:custGeom>
              <a:avLst/>
              <a:gdLst/>
              <a:ahLst/>
              <a:cxnLst/>
              <a:rect l="l" t="t" r="r" b="b"/>
              <a:pathLst>
                <a:path w="4608195" h="205740">
                  <a:moveTo>
                    <a:pt x="4608004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4608004" y="205727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5300" y="265541"/>
            <a:ext cx="13715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pt-BR" sz="1400" spc="-10" dirty="0">
                <a:solidFill>
                  <a:srgbClr val="005286"/>
                </a:solidFill>
                <a:latin typeface="Arial MT"/>
                <a:cs typeface="Arial MT"/>
              </a:rPr>
              <a:t>Justificativa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102837" y="2275438"/>
            <a:ext cx="4419549" cy="445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5080" indent="-171450" algn="just">
              <a:lnSpc>
                <a:spcPct val="150000"/>
              </a:lnSpc>
              <a:spcBef>
                <a:spcPts val="95"/>
              </a:spcBef>
              <a:buFont typeface="Wingdings" panose="05000000000000000000" pitchFamily="2" charset="2"/>
              <a:buChar char="q"/>
            </a:pPr>
            <a:r>
              <a:rPr lang="pt-BR" sz="1000" dirty="0">
                <a:latin typeface="Arial MT"/>
                <a:cs typeface="Arial MT"/>
              </a:rPr>
              <a:t>Aplicação de modelos de otimização pode apoiar a definição de rotas mais eficientes e econômicas.</a:t>
            </a:r>
            <a:endParaRPr sz="1000" dirty="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41" name="object 41"/>
            <p:cNvSpPr/>
            <p:nvPr/>
          </p:nvSpPr>
          <p:spPr>
            <a:xfrm>
              <a:off x="0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5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535976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EB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71952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1F14861-13FC-407B-8418-B909160F4B6C}"/>
              </a:ext>
            </a:extLst>
          </p:cNvPr>
          <p:cNvSpPr txBox="1"/>
          <p:nvPr/>
        </p:nvSpPr>
        <p:spPr>
          <a:xfrm>
            <a:off x="36553" y="631799"/>
            <a:ext cx="4485738" cy="525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1000" dirty="0">
                <a:latin typeface="Arial MT"/>
              </a:rPr>
              <a:t>A roteirização de veículos pode contribuir para a redução dos custos operacionais.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AFD0B2E-702D-4E34-9C29-7018F1FE1F89}"/>
              </a:ext>
            </a:extLst>
          </p:cNvPr>
          <p:cNvSpPr txBox="1"/>
          <p:nvPr/>
        </p:nvSpPr>
        <p:spPr>
          <a:xfrm>
            <a:off x="36553" y="1098472"/>
            <a:ext cx="4485738" cy="525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1000" dirty="0">
                <a:latin typeface="Arial MT"/>
              </a:rPr>
              <a:t>A escolha das rotas influencia a distância percorrida, o tempo de deslocamento e o consumo de combustível.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8CDB106-8EBC-40C5-84C8-6228A36C6107}"/>
              </a:ext>
            </a:extLst>
          </p:cNvPr>
          <p:cNvSpPr txBox="1"/>
          <p:nvPr/>
        </p:nvSpPr>
        <p:spPr>
          <a:xfrm>
            <a:off x="28868" y="1554623"/>
            <a:ext cx="4485738" cy="756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1000" dirty="0">
                <a:latin typeface="Arial MT"/>
              </a:rPr>
              <a:t>Estudos reais já demonstram ganhos com a otimização: Junior (2016) identificou uma redução de 21,8% na distância percorrida no transporte de trabalhadores.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14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137" y="-28105"/>
            <a:ext cx="4608195" cy="3456000"/>
            <a:chOff x="0" y="0"/>
            <a:chExt cx="4608195" cy="3456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608004" cy="3456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653" y="3023624"/>
              <a:ext cx="1011625" cy="2616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173" y="3096621"/>
              <a:ext cx="196733" cy="1322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905" y="3108305"/>
              <a:ext cx="171269" cy="15198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4608195" cy="205740"/>
            </a:xfrm>
            <a:custGeom>
              <a:avLst/>
              <a:gdLst/>
              <a:ahLst/>
              <a:cxnLst/>
              <a:rect l="l" t="t" r="r" b="b"/>
              <a:pathLst>
                <a:path w="4608195" h="205740">
                  <a:moveTo>
                    <a:pt x="4608004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4608004" y="205727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5300" y="265541"/>
            <a:ext cx="13715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pt-BR" sz="1400" spc="-10" dirty="0">
                <a:solidFill>
                  <a:srgbClr val="005286"/>
                </a:solidFill>
                <a:latin typeface="Arial MT"/>
                <a:cs typeface="Arial MT"/>
              </a:rPr>
              <a:t>Objetivos</a:t>
            </a:r>
          </a:p>
        </p:txBody>
      </p:sp>
      <p:grpSp>
        <p:nvGrpSpPr>
          <p:cNvPr id="40" name="object 4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41" name="object 41"/>
            <p:cNvSpPr/>
            <p:nvPr/>
          </p:nvSpPr>
          <p:spPr>
            <a:xfrm>
              <a:off x="0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5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535976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EB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71952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1F14861-13FC-407B-8418-B909160F4B6C}"/>
              </a:ext>
            </a:extLst>
          </p:cNvPr>
          <p:cNvSpPr txBox="1"/>
          <p:nvPr/>
        </p:nvSpPr>
        <p:spPr>
          <a:xfrm>
            <a:off x="-2287" y="491977"/>
            <a:ext cx="4608003" cy="1082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800" b="1" spc="-10" dirty="0">
                <a:solidFill>
                  <a:srgbClr val="005286"/>
                </a:solidFill>
                <a:latin typeface="Arial MT"/>
                <a:cs typeface="Arial MT"/>
              </a:rPr>
              <a:t>Objetivo Geral</a:t>
            </a:r>
            <a:endParaRPr lang="pt-BR" sz="800" b="1" dirty="0">
              <a:latin typeface="Arial MT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900" dirty="0">
                <a:latin typeface="Arial MT"/>
              </a:rPr>
              <a:t>Propor um modelo matemático para o problema de roteamento de ônibus com frota homogênea de uma empresa privada, considerando janelas de tempo, capacidade de transportar funcionários e os custos envolvidos nas rotas com dados reais disponibilizado pela empresa.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8CDB106-8EBC-40C5-84C8-6228A36C6107}"/>
              </a:ext>
            </a:extLst>
          </p:cNvPr>
          <p:cNvSpPr txBox="1"/>
          <p:nvPr/>
        </p:nvSpPr>
        <p:spPr>
          <a:xfrm>
            <a:off x="-3438" y="1523614"/>
            <a:ext cx="4485738" cy="149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800" b="1" spc="-10" dirty="0">
                <a:solidFill>
                  <a:srgbClr val="005286"/>
                </a:solidFill>
                <a:latin typeface="Arial MT"/>
                <a:cs typeface="Arial MT"/>
              </a:rPr>
              <a:t>Objetivos Específicos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900" dirty="0"/>
              <a:t>Analisar a base de dados com as localizações dos funcionários.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900" dirty="0"/>
              <a:t>Elaborar localização dos pontos de embarque e desembarque dos funcionários.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900" dirty="0"/>
              <a:t>Formular o problema de roteamento de ônibus com janelas de tempo.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900" dirty="0"/>
              <a:t>Desenvolver rotas alternativas com a aplicação de heurísticas e metaheurísticas. 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900" dirty="0"/>
              <a:t>Gerar instâncias de maior dimensão.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900" dirty="0"/>
              <a:t>Avaliar o desempenho das rotas obtidas.</a:t>
            </a:r>
            <a:endParaRPr lang="pt-BR" sz="900" dirty="0">
              <a:latin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062795851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/>
          <p:nvPr/>
        </p:nvSpPr>
        <p:spPr>
          <a:xfrm>
            <a:off x="95300" y="265541"/>
            <a:ext cx="25145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l"/>
            <a:r>
              <a:rPr lang="pt-BR" sz="1400" spc="-10" dirty="0">
                <a:solidFill>
                  <a:srgbClr val="005286"/>
                </a:solidFill>
                <a:latin typeface="Arial MT"/>
              </a:rPr>
              <a:t>Referencial teórico</a:t>
            </a:r>
          </a:p>
        </p:txBody>
      </p:sp>
      <p:grpSp>
        <p:nvGrpSpPr>
          <p:cNvPr id="31" name="object 31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32" name="object 32"/>
            <p:cNvSpPr/>
            <p:nvPr/>
          </p:nvSpPr>
          <p:spPr>
            <a:xfrm>
              <a:off x="0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5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35976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EB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71952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A55BFF34-CC63-45AE-8046-A71EAA879AA1}"/>
              </a:ext>
            </a:extLst>
          </p:cNvPr>
          <p:cNvSpPr/>
          <p:nvPr/>
        </p:nvSpPr>
        <p:spPr>
          <a:xfrm>
            <a:off x="26543" y="532020"/>
            <a:ext cx="4572000" cy="609600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spc="-10" dirty="0">
                <a:solidFill>
                  <a:srgbClr val="005286"/>
                </a:solidFill>
                <a:latin typeface="Arial MT"/>
              </a:rPr>
              <a:t>Problema de Máxima Cobertura</a:t>
            </a:r>
          </a:p>
          <a:p>
            <a:pPr algn="ctr"/>
            <a:endParaRPr lang="pt-BR" sz="900" spc="-10" dirty="0">
              <a:solidFill>
                <a:srgbClr val="005286"/>
              </a:solidFill>
              <a:latin typeface="Arial MT"/>
            </a:endParaRPr>
          </a:p>
          <a:p>
            <a:pPr algn="ctr"/>
            <a:r>
              <a:rPr lang="pt-BR" sz="900" dirty="0">
                <a:latin typeface="Arial MT"/>
              </a:rPr>
              <a:t>Definir localidade como objetivo de maximizar demandas atendidas sob restrições de distancia.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22E48C0B-F5B9-4133-A876-15362F4ABA74}"/>
                  </a:ext>
                </a:extLst>
              </p:cNvPr>
              <p:cNvSpPr txBox="1"/>
              <p:nvPr/>
            </p:nvSpPr>
            <p:spPr>
              <a:xfrm>
                <a:off x="2543328" y="1646397"/>
                <a:ext cx="838200" cy="3908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t-BR" sz="1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BR" sz="1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pt-BR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pt-B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</m:sub>
                      </m:sSub>
                    </m:oMath>
                  </m:oMathPara>
                </a14:m>
                <a:endParaRPr lang="pt-BR" sz="1000" dirty="0"/>
              </a:p>
            </p:txBody>
          </p:sp>
        </mc:Choice>
        <mc:Fallback xmlns=""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22E48C0B-F5B9-4133-A876-15362F4AB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328" y="1646397"/>
                <a:ext cx="838200" cy="390813"/>
              </a:xfrm>
              <a:prstGeom prst="rect">
                <a:avLst/>
              </a:prstGeom>
              <a:blipFill>
                <a:blip r:embed="rId2"/>
                <a:stretch>
                  <a:fillRect l="-49275" t="-143750" r="-42754" b="-1953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CF325837-A5E1-4D68-AD12-4D406264FBBC}"/>
                  </a:ext>
                </a:extLst>
              </p:cNvPr>
              <p:cNvSpPr txBox="1"/>
              <p:nvPr/>
            </p:nvSpPr>
            <p:spPr>
              <a:xfrm>
                <a:off x="3524201" y="2091156"/>
                <a:ext cx="838200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pt-B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pt-B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∈1,2,…,</m:t>
                      </m:r>
                      <m:r>
                        <a:rPr lang="pt-B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pt-BR" sz="1000" dirty="0"/>
              </a:p>
            </p:txBody>
          </p:sp>
        </mc:Choice>
        <mc:Fallback xmlns=""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CF325837-A5E1-4D68-AD12-4D406264F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201" y="2091156"/>
                <a:ext cx="838200" cy="153888"/>
              </a:xfrm>
              <a:prstGeom prst="rect">
                <a:avLst/>
              </a:prstGeom>
              <a:blipFill>
                <a:blip r:embed="rId3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52DC269B-109D-42E8-9988-23C0F1F21053}"/>
                  </a:ext>
                </a:extLst>
              </p:cNvPr>
              <p:cNvSpPr txBox="1"/>
              <p:nvPr/>
            </p:nvSpPr>
            <p:spPr>
              <a:xfrm>
                <a:off x="2495550" y="2267596"/>
                <a:ext cx="838200" cy="3908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t-BR" sz="1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BR" sz="1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</m:e>
                      </m:nary>
                      <m:r>
                        <a:rPr lang="pt-B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pt-BR" sz="1000" dirty="0"/>
              </a:p>
            </p:txBody>
          </p:sp>
        </mc:Choice>
        <mc:Fallback xmlns=""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52DC269B-109D-42E8-9988-23C0F1F21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550" y="2267596"/>
                <a:ext cx="838200" cy="390813"/>
              </a:xfrm>
              <a:prstGeom prst="rect">
                <a:avLst/>
              </a:prstGeom>
              <a:blipFill>
                <a:blip r:embed="rId4"/>
                <a:stretch>
                  <a:fillRect l="-40580" t="-145313" r="-51449" b="-193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CaixaDeTexto 64">
            <a:extLst>
              <a:ext uri="{FF2B5EF4-FFF2-40B4-BE49-F238E27FC236}">
                <a16:creationId xmlns:a16="http://schemas.microsoft.com/office/drawing/2014/main" id="{186E5007-1DE7-4ED0-891C-4783F86DF92B}"/>
              </a:ext>
            </a:extLst>
          </p:cNvPr>
          <p:cNvSpPr txBox="1"/>
          <p:nvPr/>
        </p:nvSpPr>
        <p:spPr>
          <a:xfrm>
            <a:off x="413437" y="1268445"/>
            <a:ext cx="12820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i="1" u="sng" dirty="0">
                <a:solidFill>
                  <a:schemeClr val="dk1"/>
                </a:solidFill>
                <a:latin typeface="Arial MT"/>
                <a:ea typeface="+mn-ea"/>
                <a:cs typeface="+mn-cs"/>
              </a:rPr>
              <a:t>Função objetivo: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E092CD1C-E68C-4178-96BD-D5E47E3E74B7}"/>
              </a:ext>
            </a:extLst>
          </p:cNvPr>
          <p:cNvSpPr txBox="1"/>
          <p:nvPr/>
        </p:nvSpPr>
        <p:spPr>
          <a:xfrm>
            <a:off x="2762250" y="1288197"/>
            <a:ext cx="12820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i="1" u="sng" dirty="0">
                <a:solidFill>
                  <a:schemeClr val="dk1"/>
                </a:solidFill>
                <a:latin typeface="Arial MT"/>
                <a:ea typeface="+mn-ea"/>
                <a:cs typeface="+mn-cs"/>
              </a:rPr>
              <a:t>Restrições:</a:t>
            </a:r>
          </a:p>
        </p:txBody>
      </p:sp>
      <p:grpSp>
        <p:nvGrpSpPr>
          <p:cNvPr id="81" name="Agrupar 80">
            <a:extLst>
              <a:ext uri="{FF2B5EF4-FFF2-40B4-BE49-F238E27FC236}">
                <a16:creationId xmlns:a16="http://schemas.microsoft.com/office/drawing/2014/main" id="{5B8D037C-1387-4E6B-8BD9-CD57EF0CCF6E}"/>
              </a:ext>
            </a:extLst>
          </p:cNvPr>
          <p:cNvGrpSpPr/>
          <p:nvPr/>
        </p:nvGrpSpPr>
        <p:grpSpPr>
          <a:xfrm>
            <a:off x="412928" y="1895342"/>
            <a:ext cx="1118432" cy="373436"/>
            <a:chOff x="148136" y="1863719"/>
            <a:chExt cx="1118432" cy="3734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CaixaDeTexto 58">
                  <a:extLst>
                    <a:ext uri="{FF2B5EF4-FFF2-40B4-BE49-F238E27FC236}">
                      <a16:creationId xmlns:a16="http://schemas.microsoft.com/office/drawing/2014/main" id="{7BEAED76-9E5B-4E72-B61A-B7F9A4AF9F6D}"/>
                    </a:ext>
                  </a:extLst>
                </p:cNvPr>
                <p:cNvSpPr txBox="1"/>
                <p:nvPr/>
              </p:nvSpPr>
              <p:spPr>
                <a:xfrm>
                  <a:off x="428368" y="1863719"/>
                  <a:ext cx="838200" cy="37343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pt-BR" sz="1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pt-BR" sz="1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pt-BR" sz="1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pt-BR" sz="1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0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pt-BR" sz="1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sz="1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pt-BR" sz="1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pt-BR" sz="1000" dirty="0">
                    <a:latin typeface="Arial MT"/>
                  </a:endParaRPr>
                </a:p>
              </p:txBody>
            </p:sp>
          </mc:Choice>
          <mc:Fallback xmlns="">
            <p:sp>
              <p:nvSpPr>
                <p:cNvPr id="59" name="CaixaDeTexto 58">
                  <a:extLst>
                    <a:ext uri="{FF2B5EF4-FFF2-40B4-BE49-F238E27FC236}">
                      <a16:creationId xmlns:a16="http://schemas.microsoft.com/office/drawing/2014/main" id="{7BEAED76-9E5B-4E72-B61A-B7F9A4AF9F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368" y="1863719"/>
                  <a:ext cx="838200" cy="373436"/>
                </a:xfrm>
                <a:prstGeom prst="rect">
                  <a:avLst/>
                </a:prstGeom>
                <a:blipFill>
                  <a:blip r:embed="rId5"/>
                  <a:stretch>
                    <a:fillRect l="-33577" t="-152459" r="-59854" b="-20819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CaixaDeTexto 68">
              <a:extLst>
                <a:ext uri="{FF2B5EF4-FFF2-40B4-BE49-F238E27FC236}">
                  <a16:creationId xmlns:a16="http://schemas.microsoft.com/office/drawing/2014/main" id="{16B8FCB0-AEB1-44F4-9744-59710F46F653}"/>
                </a:ext>
              </a:extLst>
            </p:cNvPr>
            <p:cNvSpPr txBox="1"/>
            <p:nvPr/>
          </p:nvSpPr>
          <p:spPr>
            <a:xfrm>
              <a:off x="148136" y="1939518"/>
              <a:ext cx="610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900" dirty="0">
                  <a:solidFill>
                    <a:schemeClr val="dk1"/>
                  </a:solidFill>
                  <a:latin typeface="Arial MT"/>
                  <a:ea typeface="+mn-ea"/>
                  <a:cs typeface="+mn-cs"/>
                </a:rPr>
                <a:t>max Z =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aixaDeTexto 69">
                <a:extLst>
                  <a:ext uri="{FF2B5EF4-FFF2-40B4-BE49-F238E27FC236}">
                    <a16:creationId xmlns:a16="http://schemas.microsoft.com/office/drawing/2014/main" id="{216D079D-C71A-4A47-9253-39064FB395EA}"/>
                  </a:ext>
                </a:extLst>
              </p:cNvPr>
              <p:cNvSpPr txBox="1"/>
              <p:nvPr/>
            </p:nvSpPr>
            <p:spPr>
              <a:xfrm>
                <a:off x="2306595" y="2873269"/>
                <a:ext cx="838200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pt-B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pt-B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</m:t>
                      </m:r>
                      <m:r>
                        <a:rPr lang="pt-B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pt-BR" sz="1000" dirty="0"/>
              </a:p>
            </p:txBody>
          </p:sp>
        </mc:Choice>
        <mc:Fallback xmlns="">
          <p:sp>
            <p:nvSpPr>
              <p:cNvPr id="70" name="CaixaDeTexto 69">
                <a:extLst>
                  <a:ext uri="{FF2B5EF4-FFF2-40B4-BE49-F238E27FC236}">
                    <a16:creationId xmlns:a16="http://schemas.microsoft.com/office/drawing/2014/main" id="{216D079D-C71A-4A47-9253-39064FB39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595" y="2873269"/>
                <a:ext cx="838200" cy="153888"/>
              </a:xfrm>
              <a:prstGeom prst="rect">
                <a:avLst/>
              </a:prstGeom>
              <a:blipFill>
                <a:blip r:embed="rId6"/>
                <a:stretch>
                  <a:fillRect b="-307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1378F855-232D-4487-B619-0B5FE8BE00E6}"/>
                  </a:ext>
                </a:extLst>
              </p:cNvPr>
              <p:cNvSpPr txBox="1"/>
              <p:nvPr/>
            </p:nvSpPr>
            <p:spPr>
              <a:xfrm>
                <a:off x="2305050" y="3104221"/>
                <a:ext cx="838200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pt-B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pt-B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</m:t>
                      </m:r>
                      <m:r>
                        <a:rPr lang="pt-B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pt-BR" sz="1000" dirty="0"/>
              </a:p>
            </p:txBody>
          </p:sp>
        </mc:Choice>
        <mc:Fallback xmlns=""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1378F855-232D-4487-B619-0B5FE8BE0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5050" y="3104221"/>
                <a:ext cx="838200" cy="153888"/>
              </a:xfrm>
              <a:prstGeom prst="rect">
                <a:avLst/>
              </a:prstGeom>
              <a:blipFill>
                <a:blip r:embed="rId7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4B01CBE8-3430-4D7D-9552-E132781E097C}"/>
                  </a:ext>
                </a:extLst>
              </p:cNvPr>
              <p:cNvSpPr txBox="1"/>
              <p:nvPr/>
            </p:nvSpPr>
            <p:spPr>
              <a:xfrm>
                <a:off x="1291540" y="3104221"/>
                <a:ext cx="838200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</m:sub>
                      </m:sSub>
                      <m:r>
                        <a:rPr lang="pt-B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0 , 1</m:t>
                          </m:r>
                        </m:e>
                      </m:d>
                    </m:oMath>
                  </m:oMathPara>
                </a14:m>
                <a:endParaRPr lang="pt-BR" sz="1000" dirty="0"/>
              </a:p>
            </p:txBody>
          </p:sp>
        </mc:Choice>
        <mc:Fallback xmlns="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4B01CBE8-3430-4D7D-9552-E132781E0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540" y="3104221"/>
                <a:ext cx="838200" cy="153888"/>
              </a:xfrm>
              <a:prstGeom prst="rect">
                <a:avLst/>
              </a:prstGeom>
              <a:blipFill>
                <a:blip r:embed="rId8"/>
                <a:stretch>
                  <a:fillRect b="-2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aixaDeTexto 72">
                <a:extLst>
                  <a:ext uri="{FF2B5EF4-FFF2-40B4-BE49-F238E27FC236}">
                    <a16:creationId xmlns:a16="http://schemas.microsoft.com/office/drawing/2014/main" id="{B774EF7B-CC40-42D3-876C-447D21009DD1}"/>
                  </a:ext>
                </a:extLst>
              </p:cNvPr>
              <p:cNvSpPr txBox="1"/>
              <p:nvPr/>
            </p:nvSpPr>
            <p:spPr>
              <a:xfrm>
                <a:off x="1298233" y="2873269"/>
                <a:ext cx="838200" cy="1662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</m:sub>
                      </m:sSub>
                      <m:r>
                        <a:rPr lang="pt-B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0 , 1</m:t>
                          </m:r>
                        </m:e>
                      </m:d>
                    </m:oMath>
                  </m:oMathPara>
                </a14:m>
                <a:endParaRPr lang="pt-BR" sz="1000" dirty="0"/>
              </a:p>
            </p:txBody>
          </p:sp>
        </mc:Choice>
        <mc:Fallback xmlns="">
          <p:sp>
            <p:nvSpPr>
              <p:cNvPr id="73" name="CaixaDeTexto 72">
                <a:extLst>
                  <a:ext uri="{FF2B5EF4-FFF2-40B4-BE49-F238E27FC236}">
                    <a16:creationId xmlns:a16="http://schemas.microsoft.com/office/drawing/2014/main" id="{B774EF7B-CC40-42D3-876C-447D21009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233" y="2873269"/>
                <a:ext cx="838200" cy="166264"/>
              </a:xfrm>
              <a:prstGeom prst="rect">
                <a:avLst/>
              </a:prstGeom>
              <a:blipFill>
                <a:blip r:embed="rId9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FEB6EF36-C8D0-4949-B000-05F1BC7C1B32}"/>
              </a:ext>
            </a:extLst>
          </p:cNvPr>
          <p:cNvCxnSpPr>
            <a:cxnSpLocks/>
          </p:cNvCxnSpPr>
          <p:nvPr/>
        </p:nvCxnSpPr>
        <p:spPr>
          <a:xfrm>
            <a:off x="2228850" y="1196975"/>
            <a:ext cx="0" cy="161171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>
            <a:extLst>
              <a:ext uri="{FF2B5EF4-FFF2-40B4-BE49-F238E27FC236}">
                <a16:creationId xmlns:a16="http://schemas.microsoft.com/office/drawing/2014/main" id="{9A7F6F94-1625-4D5F-B4BF-9447DCF47D94}"/>
              </a:ext>
            </a:extLst>
          </p:cNvPr>
          <p:cNvCxnSpPr>
            <a:cxnSpLocks/>
          </p:cNvCxnSpPr>
          <p:nvPr/>
        </p:nvCxnSpPr>
        <p:spPr>
          <a:xfrm>
            <a:off x="95300" y="2808687"/>
            <a:ext cx="441955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60" grpId="0"/>
      <p:bldP spid="61" grpId="0"/>
      <p:bldP spid="62" grpId="0"/>
      <p:bldP spid="65" grpId="0"/>
      <p:bldP spid="66" grpId="0"/>
      <p:bldP spid="70" grpId="0"/>
      <p:bldP spid="71" grpId="0"/>
      <p:bldP spid="72" grpId="0"/>
      <p:bldP spid="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/>
          <p:nvPr/>
        </p:nvSpPr>
        <p:spPr>
          <a:xfrm>
            <a:off x="95300" y="265541"/>
            <a:ext cx="25145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l"/>
            <a:r>
              <a:rPr lang="pt-BR" sz="1400" spc="-10" dirty="0">
                <a:solidFill>
                  <a:srgbClr val="005286"/>
                </a:solidFill>
                <a:latin typeface="Arial MT"/>
              </a:rPr>
              <a:t>Referencial teórico</a:t>
            </a:r>
          </a:p>
        </p:txBody>
      </p:sp>
      <p:grpSp>
        <p:nvGrpSpPr>
          <p:cNvPr id="31" name="object 31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32" name="object 32"/>
            <p:cNvSpPr/>
            <p:nvPr/>
          </p:nvSpPr>
          <p:spPr>
            <a:xfrm>
              <a:off x="0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5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35976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EB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71952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A55BFF34-CC63-45AE-8046-A71EAA879AA1}"/>
              </a:ext>
            </a:extLst>
          </p:cNvPr>
          <p:cNvSpPr/>
          <p:nvPr/>
        </p:nvSpPr>
        <p:spPr>
          <a:xfrm>
            <a:off x="62864" y="513142"/>
            <a:ext cx="4438650" cy="2435199"/>
          </a:xfrm>
          <a:prstGeom prst="roundRect">
            <a:avLst>
              <a:gd name="adj" fmla="val 15914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pt-BR" sz="900" spc="-10" dirty="0">
              <a:solidFill>
                <a:srgbClr val="005286"/>
              </a:solidFill>
              <a:latin typeface="Arial MT"/>
            </a:endParaRPr>
          </a:p>
          <a:p>
            <a:pPr algn="ctr">
              <a:lnSpc>
                <a:spcPct val="150000"/>
              </a:lnSpc>
            </a:pPr>
            <a:r>
              <a:rPr lang="pt-BR" sz="900" spc="-10" dirty="0">
                <a:solidFill>
                  <a:srgbClr val="005286"/>
                </a:solidFill>
                <a:latin typeface="Arial MT"/>
              </a:rPr>
              <a:t> Problema de Roteamento de Veículos (PRV)</a:t>
            </a:r>
          </a:p>
          <a:p>
            <a:pPr algn="ctr">
              <a:lnSpc>
                <a:spcPct val="150000"/>
              </a:lnSpc>
            </a:pPr>
            <a:endParaRPr lang="pt-BR" sz="900" spc="-10" dirty="0">
              <a:solidFill>
                <a:srgbClr val="005286"/>
              </a:solidFill>
              <a:latin typeface="Arial MT"/>
            </a:endParaRPr>
          </a:p>
          <a:p>
            <a:pPr algn="just">
              <a:lnSpc>
                <a:spcPct val="150000"/>
              </a:lnSpc>
            </a:pPr>
            <a:r>
              <a:rPr lang="pt-BR" sz="900" dirty="0">
                <a:latin typeface="Arial MT"/>
              </a:rPr>
              <a:t>O Problema de Roteamento de Veículos tem como objetivo minimizar as distâncias percorridas, escolhendo a melhor ordem dos pontos a serem visitados.</a:t>
            </a:r>
          </a:p>
          <a:p>
            <a:pPr algn="just">
              <a:lnSpc>
                <a:spcPct val="150000"/>
              </a:lnSpc>
            </a:pPr>
            <a:endParaRPr lang="pt-BR" sz="900" dirty="0">
              <a:latin typeface="Arial MT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900" dirty="0"/>
              <a:t>Problema de Roteamento de Veículos Capacitado (Frota homogênea e heterogênea).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pt-BR" sz="900" dirty="0"/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900" dirty="0"/>
              <a:t>Problema de Roteamento de Veículos com Janela de Tempo (Rígida e flexível).</a:t>
            </a:r>
          </a:p>
          <a:p>
            <a:pPr marL="171450" indent="-171450" algn="l">
              <a:buFont typeface="Wingdings" panose="05000000000000000000" pitchFamily="2" charset="2"/>
              <a:buChar char="q"/>
            </a:pPr>
            <a:endParaRPr lang="pt-BR" sz="900" dirty="0"/>
          </a:p>
          <a:p>
            <a:pPr algn="ctr"/>
            <a:endParaRPr lang="pt-BR" sz="900" dirty="0">
              <a:latin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420765596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/>
          <p:nvPr/>
        </p:nvSpPr>
        <p:spPr>
          <a:xfrm>
            <a:off x="105217" y="226271"/>
            <a:ext cx="25145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l"/>
            <a:r>
              <a:rPr lang="pt-BR" sz="1400" spc="-10" dirty="0">
                <a:solidFill>
                  <a:srgbClr val="005286"/>
                </a:solidFill>
                <a:latin typeface="Arial MT"/>
              </a:rPr>
              <a:t>Referencial teórico</a:t>
            </a:r>
          </a:p>
        </p:txBody>
      </p:sp>
      <p:grpSp>
        <p:nvGrpSpPr>
          <p:cNvPr id="31" name="object 31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32" name="object 32"/>
            <p:cNvSpPr/>
            <p:nvPr/>
          </p:nvSpPr>
          <p:spPr>
            <a:xfrm>
              <a:off x="0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5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35976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EB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71952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CaixaDeTexto 8">
            <a:extLst>
              <a:ext uri="{FF2B5EF4-FFF2-40B4-BE49-F238E27FC236}">
                <a16:creationId xmlns:a16="http://schemas.microsoft.com/office/drawing/2014/main" id="{398A37FF-50C8-4F54-B3D7-995909514BA5}"/>
              </a:ext>
            </a:extLst>
          </p:cNvPr>
          <p:cNvSpPr txBox="1"/>
          <p:nvPr/>
        </p:nvSpPr>
        <p:spPr>
          <a:xfrm>
            <a:off x="253963" y="480307"/>
            <a:ext cx="12820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i="1" u="sng" dirty="0">
                <a:solidFill>
                  <a:schemeClr val="dk1"/>
                </a:solidFill>
                <a:latin typeface="Arial MT"/>
                <a:ea typeface="+mn-ea"/>
                <a:cs typeface="+mn-cs"/>
              </a:rPr>
              <a:t>Função objetivo: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B3E1ABEF-C276-46CE-96AF-68B9BDB22D02}"/>
              </a:ext>
            </a:extLst>
          </p:cNvPr>
          <p:cNvGrpSpPr/>
          <p:nvPr/>
        </p:nvGrpSpPr>
        <p:grpSpPr>
          <a:xfrm>
            <a:off x="105217" y="1519796"/>
            <a:ext cx="1328542" cy="383951"/>
            <a:chOff x="95300" y="2099952"/>
            <a:chExt cx="1328542" cy="3839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CaixaDeTexto 1">
                  <a:extLst>
                    <a:ext uri="{FF2B5EF4-FFF2-40B4-BE49-F238E27FC236}">
                      <a16:creationId xmlns:a16="http://schemas.microsoft.com/office/drawing/2014/main" id="{AD57AE58-6732-44B3-B442-DA3B9BD646DC}"/>
                    </a:ext>
                  </a:extLst>
                </p:cNvPr>
                <p:cNvSpPr txBox="1"/>
                <p:nvPr/>
              </p:nvSpPr>
              <p:spPr>
                <a:xfrm>
                  <a:off x="552450" y="2099952"/>
                  <a:ext cx="871392" cy="3839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pt-BR" sz="9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pt-BR" sz="9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9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pt-BR" sz="9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sz="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900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pt-BR" sz="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pt-BR" sz="9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pt-BR" sz="9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9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pt-BR" sz="900" b="0" i="1" smtClean="0">
                                            <a:latin typeface="Cambria Math" panose="02040503050406030204" pitchFamily="18" charset="0"/>
                                          </a:rPr>
                                          <m:t>𝑖𝑗𝑘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</m:nary>
                      </m:oMath>
                    </m:oMathPara>
                  </a14:m>
                  <a:endParaRPr lang="pt-BR" sz="900" dirty="0"/>
                </a:p>
              </p:txBody>
            </p:sp>
          </mc:Choice>
          <mc:Fallback xmlns="">
            <p:sp>
              <p:nvSpPr>
                <p:cNvPr id="2" name="CaixaDeTexto 1">
                  <a:extLst>
                    <a:ext uri="{FF2B5EF4-FFF2-40B4-BE49-F238E27FC236}">
                      <a16:creationId xmlns:a16="http://schemas.microsoft.com/office/drawing/2014/main" id="{AD57AE58-6732-44B3-B442-DA3B9BD646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450" y="2099952"/>
                  <a:ext cx="871392" cy="383951"/>
                </a:xfrm>
                <a:prstGeom prst="rect">
                  <a:avLst/>
                </a:prstGeom>
                <a:blipFill>
                  <a:blip r:embed="rId2"/>
                  <a:stretch>
                    <a:fillRect l="-49650" t="-126984" r="-67133" b="-185714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A783F32C-A249-4BF9-9F5C-754D82CA6577}"/>
                </a:ext>
              </a:extLst>
            </p:cNvPr>
            <p:cNvSpPr txBox="1"/>
            <p:nvPr/>
          </p:nvSpPr>
          <p:spPr>
            <a:xfrm>
              <a:off x="95300" y="2176512"/>
              <a:ext cx="6101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900" dirty="0">
                  <a:solidFill>
                    <a:schemeClr val="dk1"/>
                  </a:solidFill>
                  <a:latin typeface="Arial MT"/>
                  <a:ea typeface="+mn-ea"/>
                  <a:cs typeface="+mn-cs"/>
                </a:rPr>
                <a:t>min Z =</a:t>
              </a: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D7DD922-FDE2-4878-88AE-7B010D6269F3}"/>
              </a:ext>
            </a:extLst>
          </p:cNvPr>
          <p:cNvSpPr txBox="1"/>
          <p:nvPr/>
        </p:nvSpPr>
        <p:spPr>
          <a:xfrm>
            <a:off x="2430945" y="480307"/>
            <a:ext cx="12820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i="1" u="sng" dirty="0">
                <a:solidFill>
                  <a:schemeClr val="dk1"/>
                </a:solidFill>
                <a:latin typeface="Arial MT"/>
                <a:ea typeface="+mn-ea"/>
                <a:cs typeface="+mn-cs"/>
              </a:rPr>
              <a:t>Restrições: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EB7D94E1-5624-4240-8FC1-C825F4C792D5}"/>
              </a:ext>
            </a:extLst>
          </p:cNvPr>
          <p:cNvCxnSpPr>
            <a:cxnSpLocks/>
          </p:cNvCxnSpPr>
          <p:nvPr/>
        </p:nvCxnSpPr>
        <p:spPr>
          <a:xfrm>
            <a:off x="2076450" y="844768"/>
            <a:ext cx="0" cy="211795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0ACC5C4F-89C0-48D4-9F3B-CFC9E586E3D1}"/>
                  </a:ext>
                </a:extLst>
              </p:cNvPr>
              <p:cNvSpPr txBox="1"/>
              <p:nvPr/>
            </p:nvSpPr>
            <p:spPr>
              <a:xfrm>
                <a:off x="2757509" y="808894"/>
                <a:ext cx="838200" cy="3908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t-BR" sz="1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BR" sz="1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pt-BR" sz="1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pt-BR" sz="10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0ACC5C4F-89C0-48D4-9F3B-CFC9E586E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509" y="808894"/>
                <a:ext cx="838200" cy="390813"/>
              </a:xfrm>
              <a:prstGeom prst="rect">
                <a:avLst/>
              </a:prstGeom>
              <a:blipFill>
                <a:blip r:embed="rId3"/>
                <a:stretch>
                  <a:fillRect l="-47826" t="-145313" r="-44203" b="-193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F586F04D-DA04-4E5E-808E-2D4937646DAC}"/>
                  </a:ext>
                </a:extLst>
              </p:cNvPr>
              <p:cNvSpPr txBox="1"/>
              <p:nvPr/>
            </p:nvSpPr>
            <p:spPr>
              <a:xfrm>
                <a:off x="2719142" y="1251067"/>
                <a:ext cx="838200" cy="373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t-BR" sz="1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BR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pt-BR" sz="1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pt-BR" sz="10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F586F04D-DA04-4E5E-808E-2D4937646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9142" y="1251067"/>
                <a:ext cx="838200" cy="373436"/>
              </a:xfrm>
              <a:prstGeom prst="rect">
                <a:avLst/>
              </a:prstGeom>
              <a:blipFill>
                <a:blip r:embed="rId4"/>
                <a:stretch>
                  <a:fillRect l="-46377" t="-150820" r="-45652" b="-2098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CA4B6A6A-7939-40CF-A4D6-CAF61F665940}"/>
                  </a:ext>
                </a:extLst>
              </p:cNvPr>
              <p:cNvSpPr txBox="1"/>
              <p:nvPr/>
            </p:nvSpPr>
            <p:spPr>
              <a:xfrm>
                <a:off x="2719142" y="1645939"/>
                <a:ext cx="838200" cy="3908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t-BR" sz="1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BR" sz="1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sz="1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sz="1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𝑖𝑗𝑘</m:t>
                              </m:r>
                            </m:sub>
                          </m:sSub>
                          <m:r>
                            <a:rPr lang="pt-BR" sz="1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pt-BR" sz="1000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CA4B6A6A-7939-40CF-A4D6-CAF61F665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9142" y="1645939"/>
                <a:ext cx="838200" cy="390813"/>
              </a:xfrm>
              <a:prstGeom prst="rect">
                <a:avLst/>
              </a:prstGeom>
              <a:blipFill>
                <a:blip r:embed="rId5"/>
                <a:stretch>
                  <a:fillRect l="-45652" t="-143750" r="-46377" b="-1953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8191E804-6420-4250-9167-A1B0E1982C31}"/>
                  </a:ext>
                </a:extLst>
              </p:cNvPr>
              <p:cNvSpPr txBox="1"/>
              <p:nvPr/>
            </p:nvSpPr>
            <p:spPr>
              <a:xfrm>
                <a:off x="2228850" y="2033689"/>
                <a:ext cx="1926511" cy="3908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t-BR" sz="1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BR" sz="1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𝑖𝑗𝑘</m:t>
                              </m:r>
                            </m:sub>
                          </m:sSub>
                          <m:r>
                            <a:rPr lang="pt-BR" sz="1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pt-BR" sz="1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1000" b="0" i="1" smtClean="0">
                                      <a:latin typeface="Cambria Math" panose="02040503050406030204" pitchFamily="18" charset="0"/>
                                    </a:rPr>
                                    <m:t>𝑗𝑖𝑘</m:t>
                                  </m:r>
                                </m:sub>
                              </m:sSub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pt-BR" sz="1000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8191E804-6420-4250-9167-A1B0E1982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850" y="2033689"/>
                <a:ext cx="1926511" cy="390813"/>
              </a:xfrm>
              <a:prstGeom prst="rect">
                <a:avLst/>
              </a:prstGeom>
              <a:blipFill>
                <a:blip r:embed="rId6"/>
                <a:stretch>
                  <a:fillRect l="-6013" t="-145313" r="-6329" b="-193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98DA1927-10FF-47F9-8DCE-3B46498C39DF}"/>
                  </a:ext>
                </a:extLst>
              </p:cNvPr>
              <p:cNvSpPr txBox="1"/>
              <p:nvPr/>
            </p:nvSpPr>
            <p:spPr>
              <a:xfrm>
                <a:off x="2228850" y="2436809"/>
                <a:ext cx="1926511" cy="373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pt-BR" sz="1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BR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</a:rPr>
                                <m:t>𝑖𝑗𝑘</m:t>
                              </m:r>
                            </m:sub>
                          </m:sSub>
                          <m:r>
                            <a:rPr lang="pt-BR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sz="1000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98DA1927-10FF-47F9-8DCE-3B46498C3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850" y="2436809"/>
                <a:ext cx="1926511" cy="373436"/>
              </a:xfrm>
              <a:prstGeom prst="rect">
                <a:avLst/>
              </a:prstGeom>
              <a:blipFill>
                <a:blip r:embed="rId7"/>
                <a:stretch>
                  <a:fillRect t="-152459" b="-2081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47C6737D-F4E0-45E6-96E1-6FDA113E5DB2}"/>
                  </a:ext>
                </a:extLst>
              </p:cNvPr>
              <p:cNvSpPr txBox="1"/>
              <p:nvPr/>
            </p:nvSpPr>
            <p:spPr>
              <a:xfrm>
                <a:off x="2174986" y="2903499"/>
                <a:ext cx="1926511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pt-BR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pt-BR" sz="1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pt-BR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1000" dirty="0"/>
                  <a:t> </a:t>
                </a:r>
                <a14:m>
                  <m:oMath xmlns:m="http://schemas.openxmlformats.org/officeDocument/2006/math">
                    <m:r>
                      <a:rPr lang="pt-BR" sz="1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pt-BR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pt-B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pt-BR" sz="100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47C6737D-F4E0-45E6-96E1-6FDA113E5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4986" y="2903499"/>
                <a:ext cx="1926511" cy="153888"/>
              </a:xfrm>
              <a:prstGeom prst="rect">
                <a:avLst/>
              </a:prstGeom>
              <a:blipFill>
                <a:blip r:embed="rId8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D36A26CA-B729-41D6-9EC2-35CAB30B69F6}"/>
                  </a:ext>
                </a:extLst>
              </p:cNvPr>
              <p:cNvSpPr txBox="1"/>
              <p:nvPr/>
            </p:nvSpPr>
            <p:spPr>
              <a:xfrm>
                <a:off x="1657350" y="3096357"/>
                <a:ext cx="838200" cy="1662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𝑖𝑗𝑘</m:t>
                          </m:r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</m:sub>
                      </m:sSub>
                      <m:r>
                        <a:rPr lang="pt-B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0 , 1</m:t>
                          </m:r>
                        </m:e>
                      </m:d>
                    </m:oMath>
                  </m:oMathPara>
                </a14:m>
                <a:endParaRPr lang="pt-BR" sz="1000" dirty="0"/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D36A26CA-B729-41D6-9EC2-35CAB30B6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350" y="3096357"/>
                <a:ext cx="838200" cy="166264"/>
              </a:xfrm>
              <a:prstGeom prst="rect">
                <a:avLst/>
              </a:prstGeom>
              <a:blipFill>
                <a:blip r:embed="rId9"/>
                <a:stretch>
                  <a:fillRect l="-730" b="-259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581951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6" grpId="0"/>
      <p:bldP spid="19" grpId="0"/>
      <p:bldP spid="20" grpId="0"/>
      <p:bldP spid="24" grpId="0"/>
      <p:bldP spid="25" grpId="0"/>
      <p:bldP spid="26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/>
          <p:nvPr/>
        </p:nvSpPr>
        <p:spPr>
          <a:xfrm>
            <a:off x="95300" y="265541"/>
            <a:ext cx="38861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l"/>
            <a:r>
              <a:rPr lang="pt-BR" sz="1400" spc="-10" dirty="0">
                <a:solidFill>
                  <a:srgbClr val="005286"/>
                </a:solidFill>
                <a:latin typeface="Arial MT"/>
              </a:rPr>
              <a:t>Referencial teórico : Métodos de solução</a:t>
            </a:r>
          </a:p>
        </p:txBody>
      </p:sp>
      <p:grpSp>
        <p:nvGrpSpPr>
          <p:cNvPr id="31" name="object 31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32" name="object 32"/>
            <p:cNvSpPr/>
            <p:nvPr/>
          </p:nvSpPr>
          <p:spPr>
            <a:xfrm>
              <a:off x="0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5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35976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EB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71952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96125B3-4475-4900-AD72-858139F9F742}"/>
              </a:ext>
            </a:extLst>
          </p:cNvPr>
          <p:cNvSpPr/>
          <p:nvPr/>
        </p:nvSpPr>
        <p:spPr>
          <a:xfrm>
            <a:off x="95300" y="514783"/>
            <a:ext cx="2126107" cy="2569955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spc="-10" dirty="0">
                <a:solidFill>
                  <a:srgbClr val="005286"/>
                </a:solidFill>
                <a:latin typeface="Arial MT"/>
              </a:rPr>
              <a:t>Métodos Exatos</a:t>
            </a:r>
          </a:p>
          <a:p>
            <a:pPr algn="ctr"/>
            <a:endParaRPr lang="pt-BR" sz="900" spc="-10" dirty="0">
              <a:solidFill>
                <a:srgbClr val="005286"/>
              </a:solidFill>
              <a:latin typeface="Arial MT"/>
            </a:endParaRPr>
          </a:p>
          <a:p>
            <a:pPr algn="ctr"/>
            <a:endParaRPr lang="pt-BR" sz="900" spc="-10" dirty="0">
              <a:solidFill>
                <a:srgbClr val="005286"/>
              </a:solidFill>
              <a:latin typeface="Arial MT"/>
            </a:endParaRPr>
          </a:p>
          <a:p>
            <a:pPr algn="ctr"/>
            <a:r>
              <a:rPr lang="pt-BR" sz="900" dirty="0">
                <a:latin typeface="Arial MT"/>
              </a:rPr>
              <a:t>Utiliza-se modelos matemáticos com o objetivo de encontrar uma solução ótima para o problema .</a:t>
            </a:r>
          </a:p>
          <a:p>
            <a:pPr algn="ctr"/>
            <a:endParaRPr lang="pt-BR" sz="900" spc="-10" dirty="0">
              <a:solidFill>
                <a:srgbClr val="005286"/>
              </a:solidFill>
              <a:latin typeface="Arial MT"/>
            </a:endParaRPr>
          </a:p>
          <a:p>
            <a:pPr algn="ctr"/>
            <a:r>
              <a:rPr lang="en-US" sz="900" dirty="0">
                <a:latin typeface="Arial MT"/>
              </a:rPr>
              <a:t>Branch-and-Bound, o Branch-and-Cut e o Branch-and-Price</a:t>
            </a:r>
            <a:endParaRPr lang="pt-BR" sz="900" spc="-10" dirty="0">
              <a:solidFill>
                <a:srgbClr val="005286"/>
              </a:solidFill>
              <a:latin typeface="Arial MT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33E54E8-B3D5-4CF0-915E-46F4A422CADA}"/>
              </a:ext>
            </a:extLst>
          </p:cNvPr>
          <p:cNvSpPr/>
          <p:nvPr/>
        </p:nvSpPr>
        <p:spPr>
          <a:xfrm>
            <a:off x="2398780" y="514783"/>
            <a:ext cx="2126107" cy="2569955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spc="-10" dirty="0">
                <a:solidFill>
                  <a:srgbClr val="005286"/>
                </a:solidFill>
                <a:latin typeface="Arial MT"/>
              </a:rPr>
              <a:t>Heurísticas e Metaheurísticas</a:t>
            </a:r>
          </a:p>
          <a:p>
            <a:pPr algn="ctr"/>
            <a:endParaRPr lang="pt-BR" sz="900" spc="-10" dirty="0">
              <a:solidFill>
                <a:srgbClr val="005286"/>
              </a:solidFill>
              <a:latin typeface="Arial MT"/>
            </a:endParaRPr>
          </a:p>
          <a:p>
            <a:pPr algn="ctr"/>
            <a:r>
              <a:rPr lang="pt-BR" sz="900" dirty="0">
                <a:latin typeface="Arial MT"/>
              </a:rPr>
              <a:t>São métodos não exatos que têm como finalidade</a:t>
            </a:r>
          </a:p>
          <a:p>
            <a:pPr algn="ctr"/>
            <a:r>
              <a:rPr lang="pt-BR" sz="900" dirty="0">
                <a:latin typeface="Arial MT"/>
              </a:rPr>
              <a:t>buscar soluções viáveis de forma rápida, porém sem garantir que a solução encontrada seja a</a:t>
            </a:r>
          </a:p>
          <a:p>
            <a:pPr algn="ctr"/>
            <a:r>
              <a:rPr lang="pt-BR" sz="900" dirty="0">
                <a:latin typeface="Arial MT"/>
              </a:rPr>
              <a:t>solução ótima para o problema.</a:t>
            </a:r>
          </a:p>
          <a:p>
            <a:pPr algn="ctr"/>
            <a:endParaRPr lang="pt-BR" sz="900" dirty="0">
              <a:latin typeface="Arial MT"/>
            </a:endParaRPr>
          </a:p>
          <a:p>
            <a:pPr algn="ctr"/>
            <a:r>
              <a:rPr lang="pt-BR" sz="900" dirty="0">
                <a:latin typeface="Arial MT"/>
              </a:rPr>
              <a:t>Vizinho Mais Próximo e a Busca Tabu</a:t>
            </a:r>
          </a:p>
        </p:txBody>
      </p:sp>
    </p:spTree>
    <p:extLst>
      <p:ext uri="{BB962C8B-B14F-4D97-AF65-F5344CB8AC3E}">
        <p14:creationId xmlns:p14="http://schemas.microsoft.com/office/powerpoint/2010/main" val="192586527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/>
          <p:nvPr/>
        </p:nvSpPr>
        <p:spPr>
          <a:xfrm>
            <a:off x="95299" y="265541"/>
            <a:ext cx="331655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l"/>
            <a:r>
              <a:rPr lang="pt-BR" sz="1400" spc="-10" dirty="0">
                <a:solidFill>
                  <a:srgbClr val="005286"/>
                </a:solidFill>
                <a:latin typeface="Arial MT"/>
              </a:rPr>
              <a:t>Metodologia: Formulação do Problema</a:t>
            </a:r>
          </a:p>
        </p:txBody>
      </p:sp>
      <p:grpSp>
        <p:nvGrpSpPr>
          <p:cNvPr id="38" name="object 3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39" name="object 39"/>
            <p:cNvSpPr/>
            <p:nvPr/>
          </p:nvSpPr>
          <p:spPr>
            <a:xfrm>
              <a:off x="0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5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535976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EB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71952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DCC6C22-40C8-4E04-A327-450C9635215F}"/>
              </a:ext>
            </a:extLst>
          </p:cNvPr>
          <p:cNvSpPr txBox="1"/>
          <p:nvPr/>
        </p:nvSpPr>
        <p:spPr>
          <a:xfrm>
            <a:off x="0" y="595640"/>
            <a:ext cx="462488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000" dirty="0">
                <a:latin typeface="Arial MT"/>
              </a:rPr>
              <a:t>Transporte de funcionários de uma empresa privada localizada no Ceará.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1000" dirty="0">
              <a:latin typeface="Arial M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000" dirty="0">
                <a:latin typeface="Arial MT"/>
              </a:rPr>
              <a:t>84 funcionários distribuídos em diferentes bairros (4 município)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1000" dirty="0">
              <a:latin typeface="Arial M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000" dirty="0">
                <a:latin typeface="Arial MT"/>
              </a:rPr>
              <a:t>Frota disponível: 2 ônibus com capacidade de 48 passageiros sentados cada.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1000" dirty="0">
              <a:latin typeface="Arial M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000" dirty="0">
                <a:latin typeface="Arial MT"/>
              </a:rPr>
              <a:t>Restrição de horário: chegada à empresa até 6h30.</a:t>
            </a:r>
          </a:p>
          <a:p>
            <a:endParaRPr lang="pt-BR" sz="1000" dirty="0">
              <a:latin typeface="Arial M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000" dirty="0">
                <a:latin typeface="Arial MT"/>
              </a:rPr>
              <a:t>Necessidade: definir pontos de embarque e rotas eficientes, considerando capacidade e tempo de percurso.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1000" dirty="0">
              <a:latin typeface="Arial M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000" dirty="0">
                <a:latin typeface="Arial MT"/>
              </a:rPr>
              <a:t>Área de estudo: 20 pontos, incluindo garagem, empresa e bairros com maior concentração de funcionários.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/>
          <p:nvPr/>
        </p:nvSpPr>
        <p:spPr>
          <a:xfrm>
            <a:off x="95299" y="265541"/>
            <a:ext cx="331655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l"/>
            <a:r>
              <a:rPr lang="pt-BR" sz="1400" spc="-10" dirty="0">
                <a:solidFill>
                  <a:srgbClr val="005286"/>
                </a:solidFill>
                <a:latin typeface="Arial MT"/>
              </a:rPr>
              <a:t>Metodologia: Etapas de Pesquisa</a:t>
            </a:r>
          </a:p>
        </p:txBody>
      </p:sp>
      <p:grpSp>
        <p:nvGrpSpPr>
          <p:cNvPr id="38" name="object 3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39" name="object 39"/>
            <p:cNvSpPr/>
            <p:nvPr/>
          </p:nvSpPr>
          <p:spPr>
            <a:xfrm>
              <a:off x="0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5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535976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EB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71952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DCC6C22-40C8-4E04-A327-450C9635215F}"/>
              </a:ext>
            </a:extLst>
          </p:cNvPr>
          <p:cNvSpPr txBox="1"/>
          <p:nvPr/>
        </p:nvSpPr>
        <p:spPr>
          <a:xfrm>
            <a:off x="-14782" y="828396"/>
            <a:ext cx="462488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000" dirty="0">
                <a:latin typeface="Arial MT"/>
              </a:rPr>
              <a:t>Revisão bibliográfica sobre Cobertura Máxima e PRVJT.</a:t>
            </a:r>
          </a:p>
          <a:p>
            <a:endParaRPr lang="pt-BR" sz="1000" dirty="0">
              <a:latin typeface="Arial M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000" dirty="0">
                <a:latin typeface="Arial MT"/>
              </a:rPr>
              <a:t>Caracterização do problema e coleta de dados da empresa.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1000" dirty="0">
              <a:latin typeface="Arial M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000" dirty="0">
                <a:latin typeface="Arial MT"/>
              </a:rPr>
              <a:t>Organização e tratamento dos dados dos funcionários, bairros e pontos de embarque.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1000" dirty="0">
              <a:latin typeface="Arial MT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000" dirty="0">
                <a:latin typeface="Arial MT"/>
              </a:rPr>
              <a:t>Aplicação do modelo de Máxima Cobertura para definição das paradas.</a:t>
            </a:r>
          </a:p>
        </p:txBody>
      </p:sp>
    </p:spTree>
    <p:extLst>
      <p:ext uri="{BB962C8B-B14F-4D97-AF65-F5344CB8AC3E}">
        <p14:creationId xmlns:p14="http://schemas.microsoft.com/office/powerpoint/2010/main" val="1120586905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/>
          <p:nvPr/>
        </p:nvSpPr>
        <p:spPr>
          <a:xfrm>
            <a:off x="95299" y="265541"/>
            <a:ext cx="445950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l"/>
            <a:r>
              <a:rPr lang="pt-BR" sz="1400" spc="-10" dirty="0">
                <a:solidFill>
                  <a:srgbClr val="005286"/>
                </a:solidFill>
                <a:latin typeface="Arial MT"/>
              </a:rPr>
              <a:t>Resultado: Aplicação do Modelo de Máxima Cobertura</a:t>
            </a:r>
          </a:p>
        </p:txBody>
      </p:sp>
      <p:grpSp>
        <p:nvGrpSpPr>
          <p:cNvPr id="38" name="object 38"/>
          <p:cNvGrpSpPr/>
          <p:nvPr/>
        </p:nvGrpSpPr>
        <p:grpSpPr>
          <a:xfrm>
            <a:off x="20953" y="3352800"/>
            <a:ext cx="4608195" cy="107950"/>
            <a:chOff x="0" y="3348469"/>
            <a:chExt cx="4608195" cy="107950"/>
          </a:xfrm>
        </p:grpSpPr>
        <p:sp>
          <p:nvSpPr>
            <p:cNvPr id="39" name="object 39"/>
            <p:cNvSpPr/>
            <p:nvPr/>
          </p:nvSpPr>
          <p:spPr>
            <a:xfrm>
              <a:off x="0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5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535976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EB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71952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23C51094-2E13-4A0F-9310-15593C495356}"/>
              </a:ext>
            </a:extLst>
          </p:cNvPr>
          <p:cNvSpPr txBox="1"/>
          <p:nvPr/>
        </p:nvSpPr>
        <p:spPr>
          <a:xfrm>
            <a:off x="1195242" y="589508"/>
            <a:ext cx="26447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1" dirty="0">
                <a:latin typeface="Arial MT"/>
              </a:rPr>
              <a:t>Definição dos pontos de embarque</a:t>
            </a:r>
          </a:p>
        </p:txBody>
      </p:sp>
      <p:graphicFrame>
        <p:nvGraphicFramePr>
          <p:cNvPr id="35" name="Tabela 34">
            <a:extLst>
              <a:ext uri="{FF2B5EF4-FFF2-40B4-BE49-F238E27FC236}">
                <a16:creationId xmlns:a16="http://schemas.microsoft.com/office/drawing/2014/main" id="{649196CE-92BD-40E2-A100-B4733E755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643487"/>
              </p:ext>
            </p:extLst>
          </p:nvPr>
        </p:nvGraphicFramePr>
        <p:xfrm>
          <a:off x="736350" y="847349"/>
          <a:ext cx="3135132" cy="2168019"/>
        </p:xfrm>
        <a:graphic>
          <a:graphicData uri="http://schemas.openxmlformats.org/drawingml/2006/table">
            <a:tbl>
              <a:tblPr/>
              <a:tblGrid>
                <a:gridCol w="783783">
                  <a:extLst>
                    <a:ext uri="{9D8B030D-6E8A-4147-A177-3AD203B41FA5}">
                      <a16:colId xmlns:a16="http://schemas.microsoft.com/office/drawing/2014/main" val="2935774173"/>
                    </a:ext>
                  </a:extLst>
                </a:gridCol>
                <a:gridCol w="783783">
                  <a:extLst>
                    <a:ext uri="{9D8B030D-6E8A-4147-A177-3AD203B41FA5}">
                      <a16:colId xmlns:a16="http://schemas.microsoft.com/office/drawing/2014/main" val="4015151235"/>
                    </a:ext>
                  </a:extLst>
                </a:gridCol>
                <a:gridCol w="783783">
                  <a:extLst>
                    <a:ext uri="{9D8B030D-6E8A-4147-A177-3AD203B41FA5}">
                      <a16:colId xmlns:a16="http://schemas.microsoft.com/office/drawing/2014/main" val="3607215423"/>
                    </a:ext>
                  </a:extLst>
                </a:gridCol>
                <a:gridCol w="783783">
                  <a:extLst>
                    <a:ext uri="{9D8B030D-6E8A-4147-A177-3AD203B41FA5}">
                      <a16:colId xmlns:a16="http://schemas.microsoft.com/office/drawing/2014/main" val="555791064"/>
                    </a:ext>
                  </a:extLst>
                </a:gridCol>
              </a:tblGrid>
              <a:tr h="310379">
                <a:tc>
                  <a:txBody>
                    <a:bodyPr/>
                    <a:lstStyle/>
                    <a:p>
                      <a:pPr algn="ctr"/>
                      <a:r>
                        <a:rPr lang="pt-BR" sz="800" b="1" i="0" dirty="0">
                          <a:solidFill>
                            <a:schemeClr val="tx1"/>
                          </a:solidFill>
                          <a:latin typeface="Arial MT"/>
                        </a:rPr>
                        <a:t>Local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i="0" dirty="0">
                          <a:solidFill>
                            <a:schemeClr val="tx1"/>
                          </a:solidFill>
                          <a:latin typeface="Arial MT"/>
                        </a:rPr>
                        <a:t>Funcionários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i="0" dirty="0">
                          <a:solidFill>
                            <a:schemeClr val="tx1"/>
                          </a:solidFill>
                          <a:latin typeface="Arial MT"/>
                        </a:rPr>
                        <a:t>Local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i="0" dirty="0">
                          <a:solidFill>
                            <a:schemeClr val="tx1"/>
                          </a:solidFill>
                          <a:latin typeface="Arial MT"/>
                        </a:rPr>
                        <a:t>Funcionários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540813"/>
                  </a:ext>
                </a:extLst>
              </a:tr>
              <a:tr h="178547">
                <a:tc>
                  <a:txBody>
                    <a:bodyPr/>
                    <a:lstStyle/>
                    <a:p>
                      <a:r>
                        <a:rPr lang="pt-BR" sz="900" dirty="0">
                          <a:latin typeface="Arial MT"/>
                        </a:rPr>
                        <a:t>Garagem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900">
                          <a:latin typeface="Arial MT"/>
                        </a:rPr>
                        <a:t>0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900">
                          <a:latin typeface="Arial MT"/>
                        </a:rPr>
                        <a:t>Bairro 10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900" dirty="0">
                          <a:latin typeface="Arial MT"/>
                        </a:rPr>
                        <a:t>4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911953"/>
                  </a:ext>
                </a:extLst>
              </a:tr>
              <a:tr h="178547">
                <a:tc>
                  <a:txBody>
                    <a:bodyPr/>
                    <a:lstStyle/>
                    <a:p>
                      <a:r>
                        <a:rPr lang="pt-BR" sz="900" dirty="0">
                          <a:latin typeface="Arial MT"/>
                        </a:rPr>
                        <a:t>Bairro 1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900" dirty="0">
                          <a:latin typeface="Arial MT"/>
                        </a:rPr>
                        <a:t>10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900">
                          <a:latin typeface="Arial MT"/>
                        </a:rPr>
                        <a:t>Bairro 11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900">
                          <a:latin typeface="Arial MT"/>
                        </a:rPr>
                        <a:t>6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956971"/>
                  </a:ext>
                </a:extLst>
              </a:tr>
              <a:tr h="178547">
                <a:tc>
                  <a:txBody>
                    <a:bodyPr/>
                    <a:lstStyle/>
                    <a:p>
                      <a:r>
                        <a:rPr lang="pt-BR" sz="900">
                          <a:latin typeface="Arial MT"/>
                        </a:rPr>
                        <a:t>Bairro 2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900" dirty="0">
                          <a:latin typeface="Arial MT"/>
                        </a:rPr>
                        <a:t>4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900" dirty="0">
                          <a:latin typeface="Arial MT"/>
                        </a:rPr>
                        <a:t>Bairro 12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900">
                          <a:latin typeface="Arial MT"/>
                        </a:rPr>
                        <a:t>6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9201476"/>
                  </a:ext>
                </a:extLst>
              </a:tr>
              <a:tr h="178547">
                <a:tc>
                  <a:txBody>
                    <a:bodyPr/>
                    <a:lstStyle/>
                    <a:p>
                      <a:r>
                        <a:rPr lang="pt-BR" sz="900">
                          <a:latin typeface="Arial MT"/>
                        </a:rPr>
                        <a:t>Bairro 3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900" dirty="0">
                          <a:latin typeface="Arial MT"/>
                        </a:rPr>
                        <a:t>5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900" dirty="0">
                          <a:latin typeface="Arial MT"/>
                        </a:rPr>
                        <a:t>Bairro 13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900">
                          <a:latin typeface="Arial MT"/>
                        </a:rPr>
                        <a:t>5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662548"/>
                  </a:ext>
                </a:extLst>
              </a:tr>
              <a:tr h="178547">
                <a:tc>
                  <a:txBody>
                    <a:bodyPr/>
                    <a:lstStyle/>
                    <a:p>
                      <a:r>
                        <a:rPr lang="pt-BR" sz="900" dirty="0">
                          <a:latin typeface="Arial MT"/>
                        </a:rPr>
                        <a:t>Bairro 4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900" dirty="0">
                          <a:latin typeface="Arial MT"/>
                        </a:rPr>
                        <a:t>5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900" dirty="0">
                          <a:latin typeface="Arial MT"/>
                        </a:rPr>
                        <a:t>Bairro 14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900">
                          <a:latin typeface="Arial MT"/>
                        </a:rPr>
                        <a:t>5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65911"/>
                  </a:ext>
                </a:extLst>
              </a:tr>
              <a:tr h="178547">
                <a:tc>
                  <a:txBody>
                    <a:bodyPr/>
                    <a:lstStyle/>
                    <a:p>
                      <a:r>
                        <a:rPr lang="pt-BR" sz="900">
                          <a:latin typeface="Arial MT"/>
                        </a:rPr>
                        <a:t>Bairro 5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900">
                          <a:latin typeface="Arial MT"/>
                        </a:rPr>
                        <a:t>5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900" dirty="0">
                          <a:latin typeface="Arial MT"/>
                        </a:rPr>
                        <a:t>Bairro 15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900">
                          <a:latin typeface="Arial MT"/>
                        </a:rPr>
                        <a:t>3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8002545"/>
                  </a:ext>
                </a:extLst>
              </a:tr>
              <a:tr h="178547">
                <a:tc>
                  <a:txBody>
                    <a:bodyPr/>
                    <a:lstStyle/>
                    <a:p>
                      <a:r>
                        <a:rPr lang="pt-BR" sz="900" dirty="0">
                          <a:latin typeface="Arial MT"/>
                        </a:rPr>
                        <a:t>Bairro 6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900" dirty="0">
                          <a:latin typeface="Arial MT"/>
                        </a:rPr>
                        <a:t>4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900" dirty="0">
                          <a:latin typeface="Arial MT"/>
                        </a:rPr>
                        <a:t>Bairro 16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900">
                          <a:latin typeface="Arial MT"/>
                        </a:rPr>
                        <a:t>3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6341271"/>
                  </a:ext>
                </a:extLst>
              </a:tr>
              <a:tr h="178547">
                <a:tc>
                  <a:txBody>
                    <a:bodyPr/>
                    <a:lstStyle/>
                    <a:p>
                      <a:r>
                        <a:rPr lang="pt-BR" sz="900" dirty="0">
                          <a:latin typeface="Arial MT"/>
                        </a:rPr>
                        <a:t>Bairro 7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900">
                          <a:latin typeface="Arial MT"/>
                        </a:rPr>
                        <a:t>4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900" dirty="0">
                          <a:latin typeface="Arial MT"/>
                        </a:rPr>
                        <a:t>Bairro 17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900" dirty="0">
                          <a:latin typeface="Arial MT"/>
                        </a:rPr>
                        <a:t>3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238617"/>
                  </a:ext>
                </a:extLst>
              </a:tr>
              <a:tr h="178547">
                <a:tc>
                  <a:txBody>
                    <a:bodyPr/>
                    <a:lstStyle/>
                    <a:p>
                      <a:r>
                        <a:rPr lang="pt-BR" sz="900">
                          <a:latin typeface="Arial MT"/>
                        </a:rPr>
                        <a:t>Bairro 8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900">
                          <a:latin typeface="Arial MT"/>
                        </a:rPr>
                        <a:t>4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900">
                          <a:latin typeface="Arial MT"/>
                        </a:rPr>
                        <a:t>Bairro 18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900" dirty="0">
                          <a:latin typeface="Arial MT"/>
                        </a:rPr>
                        <a:t>4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11387"/>
                  </a:ext>
                </a:extLst>
              </a:tr>
              <a:tr h="178547">
                <a:tc>
                  <a:txBody>
                    <a:bodyPr/>
                    <a:lstStyle/>
                    <a:p>
                      <a:r>
                        <a:rPr lang="pt-BR" sz="900">
                          <a:latin typeface="Arial MT"/>
                        </a:rPr>
                        <a:t>Bairro 9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900">
                          <a:latin typeface="Arial MT"/>
                        </a:rPr>
                        <a:t>4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900">
                          <a:latin typeface="Arial MT"/>
                        </a:rPr>
                        <a:t>Empresa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900" dirty="0">
                          <a:latin typeface="Arial MT"/>
                        </a:rPr>
                        <a:t>0</a:t>
                      </a:r>
                    </a:p>
                  </a:txBody>
                  <a:tcPr marL="48605" marR="48605" marT="24302" marB="24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324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804305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/>
          <p:nvPr/>
        </p:nvSpPr>
        <p:spPr>
          <a:xfrm>
            <a:off x="95299" y="265541"/>
            <a:ext cx="445950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l"/>
            <a:r>
              <a:rPr lang="pt-BR" sz="1400" spc="-10" dirty="0">
                <a:solidFill>
                  <a:srgbClr val="005286"/>
                </a:solidFill>
                <a:latin typeface="Arial MT"/>
              </a:rPr>
              <a:t>Resultado: Aplicação do Modelo de Máxima Cobertura</a:t>
            </a:r>
          </a:p>
        </p:txBody>
      </p:sp>
      <p:grpSp>
        <p:nvGrpSpPr>
          <p:cNvPr id="38" name="object 38"/>
          <p:cNvGrpSpPr/>
          <p:nvPr/>
        </p:nvGrpSpPr>
        <p:grpSpPr>
          <a:xfrm>
            <a:off x="20953" y="3352800"/>
            <a:ext cx="4608195" cy="107950"/>
            <a:chOff x="0" y="3348469"/>
            <a:chExt cx="4608195" cy="107950"/>
          </a:xfrm>
        </p:grpSpPr>
        <p:sp>
          <p:nvSpPr>
            <p:cNvPr id="39" name="object 39"/>
            <p:cNvSpPr/>
            <p:nvPr/>
          </p:nvSpPr>
          <p:spPr>
            <a:xfrm>
              <a:off x="0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5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535976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EB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71952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23C51094-2E13-4A0F-9310-15593C495356}"/>
              </a:ext>
            </a:extLst>
          </p:cNvPr>
          <p:cNvSpPr txBox="1"/>
          <p:nvPr/>
        </p:nvSpPr>
        <p:spPr>
          <a:xfrm>
            <a:off x="1195242" y="589508"/>
            <a:ext cx="26447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1" dirty="0">
                <a:latin typeface="Arial MT"/>
              </a:rPr>
              <a:t>Definição dos pontos de embarque</a:t>
            </a:r>
          </a:p>
        </p:txBody>
      </p:sp>
      <p:sp>
        <p:nvSpPr>
          <p:cNvPr id="47" name="TextBox 9">
            <a:extLst>
              <a:ext uri="{FF2B5EF4-FFF2-40B4-BE49-F238E27FC236}">
                <a16:creationId xmlns:a16="http://schemas.microsoft.com/office/drawing/2014/main" id="{BB62F3AF-D7DC-4FD1-90BF-5B8D22202245}"/>
              </a:ext>
            </a:extLst>
          </p:cNvPr>
          <p:cNvSpPr txBox="1"/>
          <p:nvPr/>
        </p:nvSpPr>
        <p:spPr>
          <a:xfrm>
            <a:off x="20952" y="819804"/>
            <a:ext cx="4450143" cy="5254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1000" dirty="0">
                <a:latin typeface="Arial MT"/>
              </a:rPr>
              <a:t>Realizado o levantamento de pontos geográficas de residências dos funcionários.</a:t>
            </a:r>
            <a:endParaRPr sz="1000" dirty="0">
              <a:latin typeface="Arial MT"/>
            </a:endParaRP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393CED94-C975-43A0-884C-C4FBF4AC8B56}"/>
              </a:ext>
            </a:extLst>
          </p:cNvPr>
          <p:cNvSpPr txBox="1"/>
          <p:nvPr/>
        </p:nvSpPr>
        <p:spPr>
          <a:xfrm>
            <a:off x="-20952" y="1820736"/>
            <a:ext cx="4450142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1000" dirty="0">
                <a:latin typeface="Arial MT"/>
              </a:rPr>
              <a:t>Seleção de um ponto por bairro, respeitando o raio máximo de caminhada de 2,8 km ate a parada de embarque. (Restrição).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B3704556-75E7-4DE8-85E4-B827151959CB}"/>
              </a:ext>
            </a:extLst>
          </p:cNvPr>
          <p:cNvSpPr txBox="1"/>
          <p:nvPr/>
        </p:nvSpPr>
        <p:spPr>
          <a:xfrm>
            <a:off x="0" y="1312832"/>
            <a:ext cx="4450143" cy="5254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sz="1000" dirty="0">
                <a:latin typeface="Arial MT"/>
              </a:rPr>
              <a:t>Foram considerados dois pontos </a:t>
            </a:r>
            <a:r>
              <a:rPr lang="pt-BR" sz="1000" dirty="0">
                <a:latin typeface="Arial MT"/>
              </a:rPr>
              <a:t>de instalação de paradas de embarque. </a:t>
            </a:r>
            <a:r>
              <a:rPr sz="1000" dirty="0">
                <a:latin typeface="Arial MT"/>
              </a:rPr>
              <a:t>Total</a:t>
            </a:r>
            <a:r>
              <a:rPr lang="pt-BR" sz="1000" dirty="0">
                <a:latin typeface="Arial MT"/>
              </a:rPr>
              <a:t> de</a:t>
            </a:r>
            <a:r>
              <a:rPr sz="1000" dirty="0">
                <a:latin typeface="Arial MT"/>
              </a:rPr>
              <a:t> 36 </a:t>
            </a:r>
            <a:r>
              <a:rPr lang="pt-BR" sz="1000" dirty="0">
                <a:latin typeface="Arial MT"/>
              </a:rPr>
              <a:t>possíveis parada de embarque.</a:t>
            </a:r>
            <a:endParaRPr sz="1000" dirty="0">
              <a:latin typeface="Arial MT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9F9DB47-DF2D-4193-A6ED-16131C7D5558}"/>
              </a:ext>
            </a:extLst>
          </p:cNvPr>
          <p:cNvSpPr txBox="1"/>
          <p:nvPr/>
        </p:nvSpPr>
        <p:spPr>
          <a:xfrm>
            <a:off x="-48570" y="2378213"/>
            <a:ext cx="4450142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1000" dirty="0">
                <a:latin typeface="Arial MT"/>
              </a:rPr>
              <a:t>Python no Google </a:t>
            </a:r>
            <a:r>
              <a:rPr lang="pt-BR" sz="1000" dirty="0" err="1">
                <a:latin typeface="Arial MT"/>
              </a:rPr>
              <a:t>Colab</a:t>
            </a:r>
            <a:r>
              <a:rPr lang="pt-BR" sz="1000" dirty="0">
                <a:latin typeface="Arial MT"/>
              </a:rPr>
              <a:t>, utilizando as bibliotecas Pandas, </a:t>
            </a:r>
            <a:r>
              <a:rPr lang="pt-BR" sz="1000" dirty="0" err="1">
                <a:latin typeface="Arial MT"/>
              </a:rPr>
              <a:t>Math</a:t>
            </a:r>
            <a:r>
              <a:rPr lang="pt-BR" sz="1000" dirty="0">
                <a:latin typeface="Arial MT"/>
              </a:rPr>
              <a:t> e a ferramenta de upload do próprio Google </a:t>
            </a:r>
            <a:r>
              <a:rPr lang="pt-BR" sz="1000" dirty="0" err="1">
                <a:latin typeface="Arial MT"/>
              </a:rPr>
              <a:t>Colab</a:t>
            </a:r>
            <a:r>
              <a:rPr lang="pt-BR" sz="1000" dirty="0">
                <a:latin typeface="Arial M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3976972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/>
          <p:nvPr/>
        </p:nvSpPr>
        <p:spPr>
          <a:xfrm>
            <a:off x="95299" y="265541"/>
            <a:ext cx="445950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l"/>
            <a:r>
              <a:rPr lang="pt-BR" sz="1400" spc="-10" dirty="0">
                <a:solidFill>
                  <a:srgbClr val="005286"/>
                </a:solidFill>
                <a:latin typeface="Arial MT"/>
              </a:rPr>
              <a:t>Resultado: Aplicação do Modelo de Máxima Cobertura</a:t>
            </a:r>
          </a:p>
        </p:txBody>
      </p:sp>
      <p:grpSp>
        <p:nvGrpSpPr>
          <p:cNvPr id="38" name="object 38"/>
          <p:cNvGrpSpPr/>
          <p:nvPr/>
        </p:nvGrpSpPr>
        <p:grpSpPr>
          <a:xfrm>
            <a:off x="20953" y="3352800"/>
            <a:ext cx="4608195" cy="107950"/>
            <a:chOff x="0" y="3348469"/>
            <a:chExt cx="4608195" cy="107950"/>
          </a:xfrm>
        </p:grpSpPr>
        <p:sp>
          <p:nvSpPr>
            <p:cNvPr id="39" name="object 39"/>
            <p:cNvSpPr/>
            <p:nvPr/>
          </p:nvSpPr>
          <p:spPr>
            <a:xfrm>
              <a:off x="0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5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535976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EB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71952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23C51094-2E13-4A0F-9310-15593C495356}"/>
              </a:ext>
            </a:extLst>
          </p:cNvPr>
          <p:cNvSpPr txBox="1"/>
          <p:nvPr/>
        </p:nvSpPr>
        <p:spPr>
          <a:xfrm>
            <a:off x="1195242" y="589508"/>
            <a:ext cx="26447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00" b="1" dirty="0">
                <a:latin typeface="Arial MT"/>
              </a:rPr>
              <a:t>Resultados Encontrados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67916F6-4BF4-4D09-901D-39DB1F9E13E7}"/>
              </a:ext>
            </a:extLst>
          </p:cNvPr>
          <p:cNvSpPr txBox="1"/>
          <p:nvPr/>
        </p:nvSpPr>
        <p:spPr>
          <a:xfrm>
            <a:off x="0" y="785246"/>
            <a:ext cx="453385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000" dirty="0">
                <a:latin typeface="Arial MT"/>
              </a:rPr>
              <a:t>Apresenta a localização das paradas dentro do raio de cobertura estabelecido, bem como a distribuição dos funcionários em cada bairro. Dessa forma, é possível visualizar a posição dos pontos de embarque em relação às residências dos funcionários, evidenciando que todos se encontram dentro da distância máxima permitida pelo modelo.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0D6E0BF-95A7-4AE0-9705-FAC283DA3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209" y="1588311"/>
            <a:ext cx="2686050" cy="175626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FCF1B49-172A-4024-A23F-4BEAED416EA4}"/>
              </a:ext>
            </a:extLst>
          </p:cNvPr>
          <p:cNvSpPr txBox="1"/>
          <p:nvPr/>
        </p:nvSpPr>
        <p:spPr>
          <a:xfrm>
            <a:off x="0" y="1882775"/>
            <a:ext cx="198120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 algn="ctr">
              <a:buFont typeface="Wingdings" panose="05000000000000000000" pitchFamily="2" charset="2"/>
              <a:buChar char="q"/>
            </a:pPr>
            <a:r>
              <a:rPr lang="pt-BR" sz="900" dirty="0">
                <a:latin typeface="Arial MT"/>
              </a:rPr>
              <a:t>M</a:t>
            </a:r>
            <a:r>
              <a:rPr sz="900" dirty="0">
                <a:latin typeface="Arial MT"/>
              </a:rPr>
              <a:t>enor distância de caminhada</a:t>
            </a:r>
            <a:r>
              <a:rPr lang="pt-BR" sz="900" dirty="0">
                <a:latin typeface="Arial MT"/>
              </a:rPr>
              <a:t>:</a:t>
            </a:r>
            <a:br>
              <a:rPr lang="pt-BR" sz="900" dirty="0">
                <a:latin typeface="Arial MT"/>
              </a:rPr>
            </a:br>
            <a:r>
              <a:rPr lang="pt-BR" sz="900" dirty="0">
                <a:latin typeface="Arial MT"/>
              </a:rPr>
              <a:t>17,01</a:t>
            </a:r>
          </a:p>
          <a:p>
            <a:pPr algn="ctr"/>
            <a:endParaRPr lang="pt-BR" sz="900" dirty="0">
              <a:latin typeface="Arial MT"/>
            </a:endParaRPr>
          </a:p>
          <a:p>
            <a:pPr marL="171450" indent="-171450" algn="ctr">
              <a:buFont typeface="Wingdings" panose="05000000000000000000" pitchFamily="2" charset="2"/>
              <a:buChar char="q"/>
            </a:pPr>
            <a:r>
              <a:rPr lang="pt-BR" sz="900" dirty="0">
                <a:latin typeface="Arial MT"/>
              </a:rPr>
              <a:t>Maior distância de caminhada:</a:t>
            </a:r>
          </a:p>
          <a:p>
            <a:pPr marL="171450" indent="-171450" algn="ctr">
              <a:buFont typeface="Wingdings" panose="05000000000000000000" pitchFamily="2" charset="2"/>
              <a:buChar char="q"/>
            </a:pPr>
            <a:r>
              <a:rPr lang="pt-BR" sz="900" dirty="0">
                <a:latin typeface="Arial MT"/>
              </a:rPr>
              <a:t>1,42 Km</a:t>
            </a:r>
          </a:p>
          <a:p>
            <a:pPr marL="171450" indent="-171450" algn="ctr">
              <a:buFont typeface="Wingdings" panose="05000000000000000000" pitchFamily="2" charset="2"/>
              <a:buChar char="q"/>
            </a:pPr>
            <a:endParaRPr sz="900" dirty="0">
              <a:latin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4723002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/>
          <p:nvPr/>
        </p:nvSpPr>
        <p:spPr>
          <a:xfrm>
            <a:off x="95299" y="265541"/>
            <a:ext cx="331655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l"/>
            <a:r>
              <a:rPr lang="pt-BR" sz="1400" spc="-10" dirty="0">
                <a:solidFill>
                  <a:srgbClr val="005286"/>
                </a:solidFill>
                <a:latin typeface="Arial MT"/>
              </a:rPr>
              <a:t>Próximas etapas da pesquisa:</a:t>
            </a:r>
          </a:p>
        </p:txBody>
      </p:sp>
      <p:grpSp>
        <p:nvGrpSpPr>
          <p:cNvPr id="38" name="object 3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39" name="object 39"/>
            <p:cNvSpPr/>
            <p:nvPr/>
          </p:nvSpPr>
          <p:spPr>
            <a:xfrm>
              <a:off x="0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5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535976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EB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71952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A73B70A2-471B-4C20-9649-88F492F92823}"/>
              </a:ext>
            </a:extLst>
          </p:cNvPr>
          <p:cNvSpPr txBox="1"/>
          <p:nvPr/>
        </p:nvSpPr>
        <p:spPr>
          <a:xfrm>
            <a:off x="43587" y="608207"/>
            <a:ext cx="4419551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q"/>
            </a:pPr>
            <a:r>
              <a:rPr sz="1000" b="0" dirty="0">
                <a:solidFill>
                  <a:srgbClr val="1E2328"/>
                </a:solidFill>
                <a:latin typeface="Arial MT"/>
              </a:rPr>
              <a:t>Formular o Problema de Roteamento de </a:t>
            </a:r>
            <a:r>
              <a:rPr sz="1000" b="0" dirty="0" err="1">
                <a:solidFill>
                  <a:srgbClr val="1E2328"/>
                </a:solidFill>
                <a:latin typeface="Arial MT"/>
              </a:rPr>
              <a:t>Veículos</a:t>
            </a:r>
            <a:r>
              <a:rPr sz="1000" b="0" dirty="0">
                <a:solidFill>
                  <a:srgbClr val="1E2328"/>
                </a:solidFill>
                <a:latin typeface="Arial MT"/>
              </a:rPr>
              <a:t> com </a:t>
            </a:r>
            <a:r>
              <a:rPr sz="1000" b="0" dirty="0" err="1">
                <a:solidFill>
                  <a:srgbClr val="1E2328"/>
                </a:solidFill>
                <a:latin typeface="Arial MT"/>
              </a:rPr>
              <a:t>Janela</a:t>
            </a:r>
            <a:r>
              <a:rPr sz="1000" b="0" dirty="0">
                <a:solidFill>
                  <a:srgbClr val="1E2328"/>
                </a:solidFill>
                <a:latin typeface="Arial MT"/>
              </a:rPr>
              <a:t> de Tempo (PRVJT).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8E7C790F-C3E8-4F8A-A516-1D027666202B}"/>
              </a:ext>
            </a:extLst>
          </p:cNvPr>
          <p:cNvSpPr txBox="1"/>
          <p:nvPr/>
        </p:nvSpPr>
        <p:spPr>
          <a:xfrm>
            <a:off x="43586" y="1077651"/>
            <a:ext cx="4419551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q"/>
            </a:pPr>
            <a:r>
              <a:rPr sz="1000" b="0" dirty="0" err="1">
                <a:solidFill>
                  <a:srgbClr val="1E2328"/>
                </a:solidFill>
                <a:latin typeface="Arial MT"/>
              </a:rPr>
              <a:t>Implementar</a:t>
            </a:r>
            <a:r>
              <a:rPr sz="1000" b="0" dirty="0">
                <a:solidFill>
                  <a:srgbClr val="1E2328"/>
                </a:solidFill>
                <a:latin typeface="Arial MT"/>
              </a:rPr>
              <a:t> e resolver o </a:t>
            </a:r>
            <a:r>
              <a:rPr sz="1000" b="0" dirty="0" err="1">
                <a:solidFill>
                  <a:srgbClr val="1E2328"/>
                </a:solidFill>
                <a:latin typeface="Arial MT"/>
              </a:rPr>
              <a:t>modelo</a:t>
            </a:r>
            <a:r>
              <a:rPr sz="1000" b="0" dirty="0">
                <a:solidFill>
                  <a:srgbClr val="1E2328"/>
                </a:solidFill>
                <a:latin typeface="Arial MT"/>
              </a:rPr>
              <a:t> por </a:t>
            </a:r>
            <a:r>
              <a:rPr sz="1000" b="0" dirty="0" err="1">
                <a:solidFill>
                  <a:srgbClr val="1E2328"/>
                </a:solidFill>
                <a:latin typeface="Arial MT"/>
              </a:rPr>
              <a:t>programação</a:t>
            </a:r>
            <a:r>
              <a:rPr sz="1000" b="0" dirty="0">
                <a:solidFill>
                  <a:srgbClr val="1E2328"/>
                </a:solidFill>
                <a:latin typeface="Arial MT"/>
              </a:rPr>
              <a:t> linear</a:t>
            </a:r>
            <a:r>
              <a:rPr lang="pt-BR" sz="1000" b="0" dirty="0">
                <a:solidFill>
                  <a:srgbClr val="1E2328"/>
                </a:solidFill>
                <a:latin typeface="Arial MT"/>
              </a:rPr>
              <a:t> inteira com </a:t>
            </a:r>
            <a:r>
              <a:rPr lang="pt-BR" sz="1000" b="0" dirty="0" err="1">
                <a:solidFill>
                  <a:srgbClr val="1E2328"/>
                </a:solidFill>
                <a:latin typeface="Arial MT"/>
              </a:rPr>
              <a:t>Gurobi</a:t>
            </a:r>
            <a:r>
              <a:rPr lang="pt-BR" sz="1000" b="0" dirty="0">
                <a:solidFill>
                  <a:srgbClr val="1E2328"/>
                </a:solidFill>
                <a:latin typeface="Arial MT"/>
              </a:rPr>
              <a:t>.</a:t>
            </a:r>
            <a:endParaRPr sz="1000" b="0" dirty="0">
              <a:solidFill>
                <a:srgbClr val="1E2328"/>
              </a:solidFill>
              <a:latin typeface="Arial MT"/>
            </a:endParaRP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997EE780-41D6-4D81-B14F-91AA281E3C6C}"/>
              </a:ext>
            </a:extLst>
          </p:cNvPr>
          <p:cNvSpPr txBox="1"/>
          <p:nvPr/>
        </p:nvSpPr>
        <p:spPr>
          <a:xfrm>
            <a:off x="43585" y="1552589"/>
            <a:ext cx="4419551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q"/>
            </a:pPr>
            <a:r>
              <a:rPr sz="1000" b="0" dirty="0" err="1">
                <a:solidFill>
                  <a:srgbClr val="1E2328"/>
                </a:solidFill>
                <a:latin typeface="Arial MT"/>
              </a:rPr>
              <a:t>Aplicar</a:t>
            </a:r>
            <a:r>
              <a:rPr sz="1000" b="0" dirty="0">
                <a:solidFill>
                  <a:srgbClr val="1E2328"/>
                </a:solidFill>
                <a:latin typeface="Arial MT"/>
              </a:rPr>
              <a:t> o </a:t>
            </a:r>
            <a:r>
              <a:rPr sz="1000" b="0" dirty="0" err="1">
                <a:solidFill>
                  <a:srgbClr val="1E2328"/>
                </a:solidFill>
                <a:latin typeface="Arial MT"/>
              </a:rPr>
              <a:t>método</a:t>
            </a:r>
            <a:r>
              <a:rPr lang="pt-BR" sz="1000" b="0" dirty="0">
                <a:solidFill>
                  <a:srgbClr val="1E2328"/>
                </a:solidFill>
                <a:latin typeface="Arial MT"/>
              </a:rPr>
              <a:t>s </a:t>
            </a:r>
            <a:r>
              <a:rPr lang="pt-BR" sz="1000" b="0" dirty="0" err="1">
                <a:solidFill>
                  <a:srgbClr val="1E2328"/>
                </a:solidFill>
                <a:latin typeface="Arial MT"/>
              </a:rPr>
              <a:t>heuriticas</a:t>
            </a:r>
            <a:r>
              <a:rPr sz="1000" b="0" dirty="0">
                <a:solidFill>
                  <a:srgbClr val="1E2328"/>
                </a:solidFill>
                <a:latin typeface="Arial MT"/>
              </a:rPr>
              <a:t> do </a:t>
            </a:r>
            <a:r>
              <a:rPr sz="1000" b="0" dirty="0" err="1">
                <a:solidFill>
                  <a:srgbClr val="1E2328"/>
                </a:solidFill>
                <a:latin typeface="Arial MT"/>
              </a:rPr>
              <a:t>Vizinho</a:t>
            </a:r>
            <a:r>
              <a:rPr sz="1000" b="0" dirty="0">
                <a:solidFill>
                  <a:srgbClr val="1E2328"/>
                </a:solidFill>
                <a:latin typeface="Arial MT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Arial MT"/>
              </a:rPr>
              <a:t>Mais</a:t>
            </a:r>
            <a:r>
              <a:rPr sz="1000" b="0" dirty="0">
                <a:solidFill>
                  <a:srgbClr val="1E2328"/>
                </a:solidFill>
                <a:latin typeface="Arial MT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Arial MT"/>
              </a:rPr>
              <a:t>Próxim</a:t>
            </a:r>
            <a:r>
              <a:rPr lang="pt-BR" sz="1000" b="0" dirty="0">
                <a:solidFill>
                  <a:srgbClr val="1E2328"/>
                </a:solidFill>
                <a:latin typeface="Arial MT"/>
              </a:rPr>
              <a:t>a </a:t>
            </a:r>
            <a:r>
              <a:rPr lang="pt-BR" sz="1000" dirty="0">
                <a:solidFill>
                  <a:srgbClr val="1E2328"/>
                </a:solidFill>
                <a:latin typeface="Arial MT"/>
              </a:rPr>
              <a:t>e </a:t>
            </a:r>
            <a:r>
              <a:rPr lang="pt-BR" sz="1000" b="0" dirty="0">
                <a:solidFill>
                  <a:srgbClr val="1E2328"/>
                </a:solidFill>
                <a:latin typeface="Arial MT"/>
              </a:rPr>
              <a:t>Busca Tabu.</a:t>
            </a:r>
            <a:endParaRPr sz="1000" b="0" dirty="0">
              <a:solidFill>
                <a:srgbClr val="1E2328"/>
              </a:solidFill>
              <a:latin typeface="Arial MT"/>
            </a:endParaRPr>
          </a:p>
        </p:txBody>
      </p:sp>
      <p:sp>
        <p:nvSpPr>
          <p:cNvPr id="12" name="TextBox 20">
            <a:extLst>
              <a:ext uri="{FF2B5EF4-FFF2-40B4-BE49-F238E27FC236}">
                <a16:creationId xmlns:a16="http://schemas.microsoft.com/office/drawing/2014/main" id="{0635D5C3-67FE-4F36-A97F-D90AE4586B13}"/>
              </a:ext>
            </a:extLst>
          </p:cNvPr>
          <p:cNvSpPr txBox="1"/>
          <p:nvPr/>
        </p:nvSpPr>
        <p:spPr>
          <a:xfrm>
            <a:off x="70611" y="3623183"/>
            <a:ext cx="4419551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E2328"/>
                </a:solidFill>
                <a:latin typeface="Arial MT"/>
              </a:rPr>
              <a:t>Comparar as soluções obtidas.</a:t>
            </a:r>
          </a:p>
        </p:txBody>
      </p:sp>
      <p:sp>
        <p:nvSpPr>
          <p:cNvPr id="13" name="TextBox 23">
            <a:extLst>
              <a:ext uri="{FF2B5EF4-FFF2-40B4-BE49-F238E27FC236}">
                <a16:creationId xmlns:a16="http://schemas.microsoft.com/office/drawing/2014/main" id="{0A54AE20-58EA-4C9A-9A75-B505FC4358ED}"/>
              </a:ext>
            </a:extLst>
          </p:cNvPr>
          <p:cNvSpPr txBox="1"/>
          <p:nvPr/>
        </p:nvSpPr>
        <p:spPr>
          <a:xfrm>
            <a:off x="70611" y="4382135"/>
            <a:ext cx="4419551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E2328"/>
                </a:solidFill>
                <a:latin typeface="Arial MT"/>
              </a:rPr>
              <a:t>Avaliar distância, tempo e custos operacionais.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41F73CB-C31E-434D-9A75-AAC8FEB08481}"/>
              </a:ext>
            </a:extLst>
          </p:cNvPr>
          <p:cNvSpPr txBox="1"/>
          <p:nvPr/>
        </p:nvSpPr>
        <p:spPr>
          <a:xfrm>
            <a:off x="54881" y="1859297"/>
            <a:ext cx="43969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q"/>
            </a:pPr>
            <a:r>
              <a:rPr lang="pt-BR" sz="1000" dirty="0">
                <a:solidFill>
                  <a:srgbClr val="1E2328"/>
                </a:solidFill>
                <a:latin typeface="Arial MT"/>
              </a:rPr>
              <a:t>Comparar as soluções obtidas</a:t>
            </a:r>
            <a:r>
              <a:rPr lang="pt-BR" dirty="0">
                <a:solidFill>
                  <a:srgbClr val="1E2328"/>
                </a:solidFill>
                <a:latin typeface="Aptos"/>
              </a:rPr>
              <a:t> </a:t>
            </a:r>
            <a:r>
              <a:rPr lang="pt-BR" sz="1000" dirty="0">
                <a:solidFill>
                  <a:srgbClr val="1E2328"/>
                </a:solidFill>
                <a:latin typeface="Arial MT"/>
              </a:rPr>
              <a:t>(Avaliar distância, tempo e custos operacionais.).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1EDF2CE-6CFF-43D6-A8CB-222904D080DF}"/>
              </a:ext>
            </a:extLst>
          </p:cNvPr>
          <p:cNvSpPr txBox="1"/>
          <p:nvPr/>
        </p:nvSpPr>
        <p:spPr>
          <a:xfrm>
            <a:off x="64407" y="2475225"/>
            <a:ext cx="335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q"/>
            </a:pPr>
            <a:r>
              <a:rPr lang="pt-BR" sz="1000" dirty="0">
                <a:solidFill>
                  <a:srgbClr val="1E2328"/>
                </a:solidFill>
                <a:latin typeface="Arial MT"/>
              </a:rPr>
              <a:t>Gerar novas instancias. </a:t>
            </a:r>
          </a:p>
        </p:txBody>
      </p:sp>
    </p:spTree>
    <p:extLst>
      <p:ext uri="{BB962C8B-B14F-4D97-AF65-F5344CB8AC3E}">
        <p14:creationId xmlns:p14="http://schemas.microsoft.com/office/powerpoint/2010/main" val="3437853500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5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/>
          <p:nvPr/>
        </p:nvSpPr>
        <p:spPr>
          <a:xfrm>
            <a:off x="95299" y="265541"/>
            <a:ext cx="331655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l"/>
            <a:r>
              <a:rPr lang="pt-BR" sz="1400" spc="-10" dirty="0">
                <a:solidFill>
                  <a:srgbClr val="005286"/>
                </a:solidFill>
                <a:latin typeface="Arial MT"/>
              </a:rPr>
              <a:t>Cronograma:</a:t>
            </a:r>
          </a:p>
        </p:txBody>
      </p:sp>
      <p:grpSp>
        <p:nvGrpSpPr>
          <p:cNvPr id="38" name="object 3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39" name="object 39"/>
            <p:cNvSpPr/>
            <p:nvPr/>
          </p:nvSpPr>
          <p:spPr>
            <a:xfrm>
              <a:off x="0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5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535976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EB1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71952" y="3348469"/>
              <a:ext cx="1536065" cy="107950"/>
            </a:xfrm>
            <a:custGeom>
              <a:avLst/>
              <a:gdLst/>
              <a:ahLst/>
              <a:cxnLst/>
              <a:rect l="l" t="t" r="r" b="b"/>
              <a:pathLst>
                <a:path w="1536064" h="107950">
                  <a:moveTo>
                    <a:pt x="1535976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1535976" y="107530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5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20">
            <a:extLst>
              <a:ext uri="{FF2B5EF4-FFF2-40B4-BE49-F238E27FC236}">
                <a16:creationId xmlns:a16="http://schemas.microsoft.com/office/drawing/2014/main" id="{0635D5C3-67FE-4F36-A97F-D90AE4586B13}"/>
              </a:ext>
            </a:extLst>
          </p:cNvPr>
          <p:cNvSpPr txBox="1"/>
          <p:nvPr/>
        </p:nvSpPr>
        <p:spPr>
          <a:xfrm>
            <a:off x="70611" y="3623183"/>
            <a:ext cx="4419551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E2328"/>
                </a:solidFill>
                <a:latin typeface="Arial MT"/>
              </a:rPr>
              <a:t>Comparar as soluções obtidas.</a:t>
            </a:r>
          </a:p>
        </p:txBody>
      </p:sp>
      <p:sp>
        <p:nvSpPr>
          <p:cNvPr id="13" name="TextBox 23">
            <a:extLst>
              <a:ext uri="{FF2B5EF4-FFF2-40B4-BE49-F238E27FC236}">
                <a16:creationId xmlns:a16="http://schemas.microsoft.com/office/drawing/2014/main" id="{0A54AE20-58EA-4C9A-9A75-B505FC4358ED}"/>
              </a:ext>
            </a:extLst>
          </p:cNvPr>
          <p:cNvSpPr txBox="1"/>
          <p:nvPr/>
        </p:nvSpPr>
        <p:spPr>
          <a:xfrm>
            <a:off x="70611" y="4382135"/>
            <a:ext cx="4419551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E2328"/>
                </a:solidFill>
                <a:latin typeface="Arial MT"/>
              </a:rPr>
              <a:t>Avaliar distância, tempo e custos operacionais.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CFDB907-4924-4181-9A7D-D449810E1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106659"/>
              </p:ext>
            </p:extLst>
          </p:nvPr>
        </p:nvGraphicFramePr>
        <p:xfrm>
          <a:off x="95299" y="583735"/>
          <a:ext cx="4394865" cy="2173876"/>
        </p:xfrm>
        <a:graphic>
          <a:graphicData uri="http://schemas.openxmlformats.org/drawingml/2006/table">
            <a:tbl>
              <a:tblPr/>
              <a:tblGrid>
                <a:gridCol w="1367393">
                  <a:extLst>
                    <a:ext uri="{9D8B030D-6E8A-4147-A177-3AD203B41FA5}">
                      <a16:colId xmlns:a16="http://schemas.microsoft.com/office/drawing/2014/main" val="4201617006"/>
                    </a:ext>
                  </a:extLst>
                </a:gridCol>
                <a:gridCol w="388724">
                  <a:extLst>
                    <a:ext uri="{9D8B030D-6E8A-4147-A177-3AD203B41FA5}">
                      <a16:colId xmlns:a16="http://schemas.microsoft.com/office/drawing/2014/main" val="784823661"/>
                    </a:ext>
                  </a:extLst>
                </a:gridCol>
                <a:gridCol w="388724">
                  <a:extLst>
                    <a:ext uri="{9D8B030D-6E8A-4147-A177-3AD203B41FA5}">
                      <a16:colId xmlns:a16="http://schemas.microsoft.com/office/drawing/2014/main" val="1526346124"/>
                    </a:ext>
                  </a:extLst>
                </a:gridCol>
                <a:gridCol w="503055">
                  <a:extLst>
                    <a:ext uri="{9D8B030D-6E8A-4147-A177-3AD203B41FA5}">
                      <a16:colId xmlns:a16="http://schemas.microsoft.com/office/drawing/2014/main" val="2714089100"/>
                    </a:ext>
                  </a:extLst>
                </a:gridCol>
                <a:gridCol w="503055">
                  <a:extLst>
                    <a:ext uri="{9D8B030D-6E8A-4147-A177-3AD203B41FA5}">
                      <a16:colId xmlns:a16="http://schemas.microsoft.com/office/drawing/2014/main" val="4061047355"/>
                    </a:ext>
                  </a:extLst>
                </a:gridCol>
                <a:gridCol w="457322">
                  <a:extLst>
                    <a:ext uri="{9D8B030D-6E8A-4147-A177-3AD203B41FA5}">
                      <a16:colId xmlns:a16="http://schemas.microsoft.com/office/drawing/2014/main" val="809925674"/>
                    </a:ext>
                  </a:extLst>
                </a:gridCol>
                <a:gridCol w="457322">
                  <a:extLst>
                    <a:ext uri="{9D8B030D-6E8A-4147-A177-3AD203B41FA5}">
                      <a16:colId xmlns:a16="http://schemas.microsoft.com/office/drawing/2014/main" val="4204024740"/>
                    </a:ext>
                  </a:extLst>
                </a:gridCol>
                <a:gridCol w="329270">
                  <a:extLst>
                    <a:ext uri="{9D8B030D-6E8A-4147-A177-3AD203B41FA5}">
                      <a16:colId xmlns:a16="http://schemas.microsoft.com/office/drawing/2014/main" val="1853037467"/>
                    </a:ext>
                  </a:extLst>
                </a:gridCol>
              </a:tblGrid>
              <a:tr h="22162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dirty="0">
                          <a:effectLst/>
                          <a:latin typeface="Arial MT"/>
                        </a:rPr>
                        <a:t>Etapas de Estudo de Caso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pt-BR" sz="800" b="1" dirty="0">
                          <a:effectLst/>
                          <a:latin typeface="Arial MT"/>
                        </a:rPr>
                        <a:t>2026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pt-BR" sz="800" b="1" dirty="0">
                          <a:effectLst/>
                          <a:latin typeface="Arial MT"/>
                        </a:rPr>
                        <a:t>2027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506864"/>
                  </a:ext>
                </a:extLst>
              </a:tr>
              <a:tr h="184374">
                <a:tc>
                  <a:txBody>
                    <a:bodyPr/>
                    <a:lstStyle/>
                    <a:p>
                      <a:pPr rtl="0" fontAlgn="ctr"/>
                      <a:endParaRPr lang="pt-BR" sz="700" dirty="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Set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Out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 err="1">
                          <a:effectLst/>
                          <a:latin typeface="Arial MT"/>
                        </a:rPr>
                        <a:t>Nov</a:t>
                      </a:r>
                      <a:endParaRPr lang="pt-BR" sz="700" b="1" dirty="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Dez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>
                          <a:effectLst/>
                          <a:latin typeface="Arial MT"/>
                        </a:rPr>
                        <a:t>Jan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>
                          <a:effectLst/>
                          <a:latin typeface="Arial MT"/>
                        </a:rPr>
                        <a:t>Fev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Mar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814216"/>
                  </a:ext>
                </a:extLst>
              </a:tr>
              <a:tr h="222580">
                <a:tc>
                  <a:txBody>
                    <a:bodyPr/>
                    <a:lstStyle/>
                    <a:p>
                      <a:pPr rtl="0" fontAlgn="ctr"/>
                      <a:r>
                        <a:rPr lang="pt-BR" sz="700">
                          <a:effectLst/>
                          <a:latin typeface="Arial MT"/>
                        </a:rPr>
                        <a:t>Revisão bibliográfica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 dirty="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 dirty="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 dirty="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 dirty="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609272"/>
                  </a:ext>
                </a:extLst>
              </a:tr>
              <a:tr h="230643">
                <a:tc>
                  <a:txBody>
                    <a:bodyPr/>
                    <a:lstStyle/>
                    <a:p>
                      <a:pPr rtl="0" fontAlgn="ctr"/>
                      <a:r>
                        <a:rPr lang="pt-BR" sz="700" dirty="0">
                          <a:effectLst/>
                          <a:latin typeface="Arial MT"/>
                        </a:rPr>
                        <a:t>Desenvolvimento do estudo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 dirty="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 dirty="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 dirty="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8187156"/>
                  </a:ext>
                </a:extLst>
              </a:tr>
              <a:tr h="230643">
                <a:tc>
                  <a:txBody>
                    <a:bodyPr/>
                    <a:lstStyle/>
                    <a:p>
                      <a:pPr rtl="0" fontAlgn="ctr"/>
                      <a:r>
                        <a:rPr lang="pt-BR" sz="700" dirty="0">
                          <a:effectLst/>
                          <a:latin typeface="Arial MT"/>
                        </a:rPr>
                        <a:t>Formulação do modelo matemático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530253"/>
                  </a:ext>
                </a:extLst>
              </a:tr>
              <a:tr h="209176">
                <a:tc>
                  <a:txBody>
                    <a:bodyPr/>
                    <a:lstStyle/>
                    <a:p>
                      <a:pPr rtl="0" fontAlgn="ctr"/>
                      <a:r>
                        <a:rPr lang="pt-BR" sz="700" dirty="0">
                          <a:effectLst/>
                          <a:latin typeface="Arial MT"/>
                        </a:rPr>
                        <a:t>Implementação computacional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0097486"/>
                  </a:ext>
                </a:extLst>
              </a:tr>
              <a:tr h="191808">
                <a:tc>
                  <a:txBody>
                    <a:bodyPr/>
                    <a:lstStyle/>
                    <a:p>
                      <a:pPr rtl="0" fontAlgn="ctr"/>
                      <a:r>
                        <a:rPr lang="pt-BR" sz="700" dirty="0">
                          <a:effectLst/>
                          <a:latin typeface="Arial MT"/>
                        </a:rPr>
                        <a:t>Experimentos computacionais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720312"/>
                  </a:ext>
                </a:extLst>
              </a:tr>
              <a:tr h="221624">
                <a:tc>
                  <a:txBody>
                    <a:bodyPr/>
                    <a:lstStyle/>
                    <a:p>
                      <a:pPr rtl="0" fontAlgn="ctr"/>
                      <a:r>
                        <a:rPr lang="pt-BR" sz="700" dirty="0">
                          <a:effectLst/>
                          <a:latin typeface="Arial MT"/>
                        </a:rPr>
                        <a:t>Proposta de heurísticas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700" dirty="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 dirty="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884939"/>
                  </a:ext>
                </a:extLst>
              </a:tr>
              <a:tr h="176979">
                <a:tc>
                  <a:txBody>
                    <a:bodyPr/>
                    <a:lstStyle/>
                    <a:p>
                      <a:pPr rtl="0" fontAlgn="ctr"/>
                      <a:r>
                        <a:rPr lang="pt-BR" sz="700" dirty="0">
                          <a:effectLst/>
                          <a:latin typeface="Arial MT"/>
                        </a:rPr>
                        <a:t>Redação da dissertação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 dirty="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281188"/>
                  </a:ext>
                </a:extLst>
              </a:tr>
              <a:tr h="284425">
                <a:tc>
                  <a:txBody>
                    <a:bodyPr/>
                    <a:lstStyle/>
                    <a:p>
                      <a:pPr rtl="0" fontAlgn="ctr"/>
                      <a:r>
                        <a:rPr lang="pt-BR" sz="700" dirty="0">
                          <a:effectLst/>
                          <a:latin typeface="Arial MT"/>
                        </a:rPr>
                        <a:t>Defesa da dissertação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 dirty="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 dirty="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pt-BR" sz="700">
                        <a:effectLst/>
                        <a:latin typeface="Arial MT"/>
                      </a:endParaRP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dirty="0">
                          <a:effectLst/>
                          <a:latin typeface="Arial MT"/>
                        </a:rPr>
                        <a:t>X</a:t>
                      </a:r>
                    </a:p>
                  </a:txBody>
                  <a:tcPr marL="8524" marR="8524" marT="5683" marB="5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024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762400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B247295-B848-4F62-9FD5-4F770773CDE7}"/>
              </a:ext>
            </a:extLst>
          </p:cNvPr>
          <p:cNvSpPr txBox="1"/>
          <p:nvPr/>
        </p:nvSpPr>
        <p:spPr>
          <a:xfrm>
            <a:off x="15950" y="282575"/>
            <a:ext cx="23046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400" spc="-10" dirty="0">
                <a:solidFill>
                  <a:srgbClr val="005286"/>
                </a:solidFill>
                <a:latin typeface="Arial MT"/>
              </a:rPr>
              <a:t>Referências essenciais: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386DE470-CA6B-4D9A-BCDF-898374EE2ECE}"/>
              </a:ext>
            </a:extLst>
          </p:cNvPr>
          <p:cNvSpPr txBox="1"/>
          <p:nvPr/>
        </p:nvSpPr>
        <p:spPr>
          <a:xfrm>
            <a:off x="15950" y="583296"/>
            <a:ext cx="4343400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  <a:defRPr sz="1700">
                <a:solidFill>
                  <a:srgbClr val="1E2328"/>
                </a:solidFill>
                <a:latin typeface="Aptos"/>
              </a:defRPr>
            </a:pPr>
            <a:r>
              <a:rPr lang="en-US" sz="900" dirty="0">
                <a:solidFill>
                  <a:srgbClr val="1E2328"/>
                </a:solidFill>
                <a:latin typeface="Arial MT"/>
              </a:rPr>
              <a:t>CHEN, J. et al. Optimization of transportation routing problem for fresh food by improved ant colony algorithm based on tabu search. Sustainability, v. 11, n. 23, p. 658</a:t>
            </a:r>
            <a:endParaRPr lang="pt-BR" sz="900" dirty="0">
              <a:solidFill>
                <a:srgbClr val="1E2328"/>
              </a:solidFill>
              <a:latin typeface="Arial MT"/>
            </a:endParaRPr>
          </a:p>
          <a:p>
            <a:pPr algn="just">
              <a:spcAft>
                <a:spcPts val="1000"/>
              </a:spcAft>
              <a:defRPr sz="1700">
                <a:solidFill>
                  <a:srgbClr val="1E2328"/>
                </a:solidFill>
                <a:latin typeface="Aptos"/>
              </a:defRPr>
            </a:pPr>
            <a:r>
              <a:rPr sz="900" dirty="0">
                <a:latin typeface="Arial MT"/>
              </a:rPr>
              <a:t>TOTH, P.; VIGO, D. Vehicle Routing: Problems, Methods, and Applications.</a:t>
            </a:r>
          </a:p>
          <a:p>
            <a:pPr algn="just">
              <a:spcAft>
                <a:spcPts val="1000"/>
              </a:spcAft>
              <a:defRPr sz="1700">
                <a:solidFill>
                  <a:srgbClr val="1E2328"/>
                </a:solidFill>
                <a:latin typeface="Aptos"/>
              </a:defRPr>
            </a:pPr>
            <a:r>
              <a:rPr sz="900" dirty="0">
                <a:latin typeface="Arial MT"/>
              </a:rPr>
              <a:t>SOLOMON, M. M. Algorithms for the Vehicle Routing and Scheduling Problems with Time Window Constraints.</a:t>
            </a:r>
            <a:endParaRPr lang="pt-BR" sz="900" dirty="0">
              <a:latin typeface="Arial MT"/>
            </a:endParaRPr>
          </a:p>
          <a:p>
            <a:pPr algn="just">
              <a:spcAft>
                <a:spcPts val="1000"/>
              </a:spcAft>
              <a:defRPr sz="1700">
                <a:solidFill>
                  <a:srgbClr val="1E2328"/>
                </a:solidFill>
                <a:latin typeface="Aptos"/>
              </a:defRPr>
            </a:pPr>
            <a:r>
              <a:rPr lang="pt-BR" sz="900" dirty="0">
                <a:solidFill>
                  <a:srgbClr val="1E2328"/>
                </a:solidFill>
                <a:latin typeface="Arial MT"/>
              </a:rPr>
              <a:t>SATHER, T. M. Um Modelo Matemático de Localização de Facilidades e Alocação de Equipamentos na Saúde Pública. Tese (Tese (Doutorado)) — Universidade Federal de Minas Gerais, Belo Horizonte, 2008. </a:t>
            </a:r>
            <a:endParaRPr sz="900" dirty="0">
              <a:solidFill>
                <a:srgbClr val="1E2328"/>
              </a:solidFill>
              <a:latin typeface="Arial MT"/>
            </a:endParaRPr>
          </a:p>
          <a:p>
            <a:pPr algn="just">
              <a:spcAft>
                <a:spcPts val="1000"/>
              </a:spcAft>
              <a:defRPr sz="1700">
                <a:solidFill>
                  <a:srgbClr val="1E2328"/>
                </a:solidFill>
                <a:latin typeface="Aptos"/>
              </a:defRPr>
            </a:pPr>
            <a:r>
              <a:rPr sz="900" dirty="0">
                <a:latin typeface="Arial MT"/>
              </a:rPr>
              <a:t>GLOVER, F.; KOCHENBERGER, G. A. Handbook of Metaheuristics.</a:t>
            </a:r>
            <a:endParaRPr lang="pt-BR" sz="900" dirty="0">
              <a:latin typeface="Arial MT"/>
            </a:endParaRPr>
          </a:p>
          <a:p>
            <a:pPr algn="just">
              <a:spcAft>
                <a:spcPts val="1000"/>
              </a:spcAft>
              <a:defRPr sz="1700">
                <a:solidFill>
                  <a:srgbClr val="1E2328"/>
                </a:solidFill>
                <a:latin typeface="Aptos"/>
              </a:defRPr>
            </a:pPr>
            <a:r>
              <a:rPr lang="en-US" sz="900" dirty="0">
                <a:solidFill>
                  <a:srgbClr val="1E2328"/>
                </a:solidFill>
                <a:latin typeface="Arial MT"/>
              </a:rPr>
              <a:t>LAPORTE, G. The vehicle routing problem: An overview of exact and approximate algorithms. European Journal of Operational Research, v. 59, n. 3, p. 345–358, 1992</a:t>
            </a:r>
            <a:r>
              <a:rPr lang="en-US" sz="900" dirty="0">
                <a:latin typeface="Arial MT"/>
              </a:rPr>
              <a:t>.</a:t>
            </a:r>
            <a:endParaRPr sz="900" dirty="0">
              <a:latin typeface="Arial MT"/>
            </a:endParaRPr>
          </a:p>
          <a:p>
            <a:pPr>
              <a:spcAft>
                <a:spcPts val="1000"/>
              </a:spcAft>
              <a:defRPr sz="1700">
                <a:solidFill>
                  <a:srgbClr val="1E2328"/>
                </a:solidFill>
                <a:latin typeface="Aptos"/>
              </a:defRPr>
            </a:pPr>
            <a:r>
              <a:rPr sz="1000" dirty="0">
                <a:latin typeface="Arial M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7389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F7D457A-3138-4897-95C9-8F314F46DADF}"/>
              </a:ext>
            </a:extLst>
          </p:cNvPr>
          <p:cNvSpPr txBox="1"/>
          <p:nvPr/>
        </p:nvSpPr>
        <p:spPr>
          <a:xfrm>
            <a:off x="365760" y="1273175"/>
            <a:ext cx="38785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dirty="0" err="1">
                <a:solidFill>
                  <a:schemeClr val="tx2"/>
                </a:solidFill>
                <a:latin typeface="Arial MT"/>
              </a:rPr>
              <a:t>Obrigada</a:t>
            </a:r>
            <a:r>
              <a:rPr sz="3200" b="1" dirty="0">
                <a:solidFill>
                  <a:schemeClr val="tx2"/>
                </a:solidFill>
                <a:latin typeface="Arial MT"/>
              </a:rPr>
              <a:t>!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5433F1B-BC04-4814-A9FF-BC35E88DBF90}"/>
              </a:ext>
            </a:extLst>
          </p:cNvPr>
          <p:cNvSpPr txBox="1"/>
          <p:nvPr/>
        </p:nvSpPr>
        <p:spPr>
          <a:xfrm>
            <a:off x="365760" y="2826474"/>
            <a:ext cx="387858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dirty="0" err="1">
                <a:solidFill>
                  <a:schemeClr val="tx1"/>
                </a:solidFill>
                <a:latin typeface="Arial MT"/>
              </a:rPr>
              <a:t>Exame</a:t>
            </a:r>
            <a:r>
              <a:rPr sz="900" b="0" dirty="0">
                <a:solidFill>
                  <a:schemeClr val="tx1"/>
                </a:solidFill>
                <a:latin typeface="Arial MT"/>
              </a:rPr>
              <a:t> de Qualificação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B545A24-4D52-423B-8674-721F09E7B275}"/>
              </a:ext>
            </a:extLst>
          </p:cNvPr>
          <p:cNvSpPr txBox="1"/>
          <p:nvPr/>
        </p:nvSpPr>
        <p:spPr>
          <a:xfrm>
            <a:off x="95250" y="2431415"/>
            <a:ext cx="4419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dirty="0">
                <a:solidFill>
                  <a:schemeClr val="tx1"/>
                </a:solidFill>
                <a:latin typeface="Arial MT"/>
              </a:rPr>
              <a:t>Roteamento de </a:t>
            </a:r>
            <a:r>
              <a:rPr sz="900" b="1" dirty="0" err="1">
                <a:solidFill>
                  <a:schemeClr val="tx1"/>
                </a:solidFill>
                <a:latin typeface="Arial MT"/>
              </a:rPr>
              <a:t>ônibus</a:t>
            </a:r>
            <a:r>
              <a:rPr sz="900" b="1" dirty="0">
                <a:solidFill>
                  <a:schemeClr val="tx1"/>
                </a:solidFill>
                <a:latin typeface="Arial MT"/>
              </a:rPr>
              <a:t> para </a:t>
            </a:r>
            <a:r>
              <a:rPr sz="900" b="1" dirty="0" err="1">
                <a:solidFill>
                  <a:schemeClr val="tx1"/>
                </a:solidFill>
                <a:latin typeface="Arial MT"/>
              </a:rPr>
              <a:t>deslocamento</a:t>
            </a:r>
            <a:r>
              <a:rPr sz="900" b="1" dirty="0">
                <a:solidFill>
                  <a:schemeClr val="tx1"/>
                </a:solidFill>
                <a:latin typeface="Arial MT"/>
              </a:rPr>
              <a:t> de </a:t>
            </a:r>
            <a:r>
              <a:rPr sz="900" b="1" dirty="0" err="1">
                <a:solidFill>
                  <a:schemeClr val="tx1"/>
                </a:solidFill>
                <a:latin typeface="Arial MT"/>
              </a:rPr>
              <a:t>funcionários</a:t>
            </a:r>
            <a:r>
              <a:rPr sz="900" b="1" dirty="0">
                <a:solidFill>
                  <a:schemeClr val="tx1"/>
                </a:solidFill>
                <a:latin typeface="Arial MT"/>
              </a:rPr>
              <a:t>
com </a:t>
            </a:r>
            <a:r>
              <a:rPr sz="900" b="1" dirty="0" err="1">
                <a:solidFill>
                  <a:schemeClr val="tx1"/>
                </a:solidFill>
                <a:latin typeface="Arial MT"/>
              </a:rPr>
              <a:t>janela</a:t>
            </a:r>
            <a:r>
              <a:rPr sz="900" b="1" dirty="0">
                <a:solidFill>
                  <a:schemeClr val="tx1"/>
                </a:solidFill>
                <a:latin typeface="Arial MT"/>
              </a:rPr>
              <a:t> de tempo</a:t>
            </a:r>
          </a:p>
        </p:txBody>
      </p:sp>
    </p:spTree>
    <p:extLst>
      <p:ext uri="{BB962C8B-B14F-4D97-AF65-F5344CB8AC3E}">
        <p14:creationId xmlns:p14="http://schemas.microsoft.com/office/powerpoint/2010/main" val="2301656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1483</TotalTime>
  <Words>1269</Words>
  <Application>Microsoft Office PowerPoint</Application>
  <PresentationFormat>Personalizar</PresentationFormat>
  <Paragraphs>241</Paragraphs>
  <Slides>17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4" baseType="lpstr">
      <vt:lpstr>Aptos</vt:lpstr>
      <vt:lpstr>Arial</vt:lpstr>
      <vt:lpstr>Arial MT</vt:lpstr>
      <vt:lpstr>Calibri</vt:lpstr>
      <vt:lpstr>Cambria Math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NÚMERICOS PARA RAÍZES DE EQUAÇÕES</dc:title>
  <dc:creator>Arthur Alves Barbosa Eric Oliveira RochaJosé Vanderlan de Sousa Sinfrônio Paulo Vitor de Oliveira Bessa</dc:creator>
  <cp:lastModifiedBy>amanda dias</cp:lastModifiedBy>
  <cp:revision>38</cp:revision>
  <dcterms:created xsi:type="dcterms:W3CDTF">2026-09-18T22:52:19Z</dcterms:created>
  <dcterms:modified xsi:type="dcterms:W3CDTF">2026-09-22T09:43:38Z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2026-09-18T00:00:00Z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2026-09-18T00:00:00Z</vt:filetime>
  </property>
  <property fmtid="{D5CDD505-2E9C-101B-9397-08002B2CF9AE}" pid="6" name="PTEX.Fullbanner">
    <vt:lpwstr>This is pdfTeX, Version 3.14159265-2.6-1.40.21 (TeX Live 2020) kpathsea version 6.3.2</vt:lpwstr>
  </property>
  <property fmtid="{D5CDD505-2E9C-101B-9397-08002B2CF9AE}" pid="7" name="Producer">
    <vt:lpwstr>pdfTeX-1.40.21</vt:lpwstr>
  </property>
</Properties>
</file>